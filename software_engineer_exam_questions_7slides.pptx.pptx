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Noto Sans Thai Bold" charset="1" panose="020B0802040504020204"/>
      <p:regular r:id="rId21"/>
    </p:embeddedFont>
    <p:embeddedFont>
      <p:font typeface="Arimo Bold" charset="1" panose="020B0704020202020204"/>
      <p:regular r:id="rId22"/>
    </p:embeddedFont>
    <p:embeddedFont>
      <p:font typeface="JetBrains Mono" charset="1" panose="02010509020102050004"/>
      <p:regular r:id="rId23"/>
    </p:embeddedFont>
    <p:embeddedFont>
      <p:font typeface="Noto Sans Thai" charset="1" panose="020B0502040504020204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notesMasters/notesMaster1.xml" Type="http://schemas.openxmlformats.org/officeDocument/2006/relationships/notesMaster"/><Relationship Id="rId19" Target="theme/theme2.xml" Type="http://schemas.openxmlformats.org/officeDocument/2006/relationships/theme"/><Relationship Id="rId2" Target="presProps.xml" Type="http://schemas.openxmlformats.org/officeDocument/2006/relationships/presProps"/><Relationship Id="rId20" Target="notesSlides/notesSlide1.xml" Type="http://schemas.openxmlformats.org/officeDocument/2006/relationships/notes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notesSlides/notesSlide2.xml" Type="http://schemas.openxmlformats.org/officeDocument/2006/relationships/notesSlide"/><Relationship Id="rId26" Target="notesSlides/notesSlide3.xml" Type="http://schemas.openxmlformats.org/officeDocument/2006/relationships/notesSlide"/><Relationship Id="rId27" Target="notesSlides/notesSlide4.xml" Type="http://schemas.openxmlformats.org/officeDocument/2006/relationships/notesSlide"/><Relationship Id="rId28" Target="notesSlides/notesSlide5.xml" Type="http://schemas.openxmlformats.org/officeDocument/2006/relationships/notesSlide"/><Relationship Id="rId29" Target="notesSlides/notesSlide6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7.xml" Type="http://schemas.openxmlformats.org/officeDocument/2006/relationships/notesSlide"/><Relationship Id="rId31" Target="notesSlides/notesSlide8.xml" Type="http://schemas.openxmlformats.org/officeDocument/2006/relationships/notesSlide"/><Relationship Id="rId32" Target="notesSlides/notesSlide9.xml" Type="http://schemas.openxmlformats.org/officeDocument/2006/relationships/notesSlide"/><Relationship Id="rId33" Target="notesSlides/notesSlide10.xml" Type="http://schemas.openxmlformats.org/officeDocument/2006/relationships/notesSlide"/><Relationship Id="rId34" Target="notesSlides/notesSlide11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Relationship Id="rId4" Target="../media/image6.png" Type="http://schemas.openxmlformats.org/officeDocument/2006/relationships/image"/><Relationship Id="rId5" Target="../embeddings/oleObject1.bin" Type="http://schemas.openxmlformats.org/officeDocument/2006/relationships/oleObjec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Relationship Id="rId4" Target="../media/image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97358"/>
            <a:chOff x="0" y="0"/>
            <a:chExt cx="24408790" cy="2631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63144"/>
            </a:xfrm>
            <a:custGeom>
              <a:avLst/>
              <a:gdLst/>
              <a:ahLst/>
              <a:cxnLst/>
              <a:rect r="r" b="b" t="t" l="l"/>
              <a:pathLst>
                <a:path h="263144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63144"/>
                  </a:lnTo>
                  <a:lnTo>
                    <a:pt x="0" y="263144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0392" y="521208"/>
            <a:ext cx="9738360" cy="356616"/>
            <a:chOff x="0" y="0"/>
            <a:chExt cx="12984480" cy="4754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984480" cy="475488"/>
            </a:xfrm>
            <a:custGeom>
              <a:avLst/>
              <a:gdLst/>
              <a:ahLst/>
              <a:cxnLst/>
              <a:rect r="r" b="b" t="t" l="l"/>
              <a:pathLst>
                <a:path h="475488" w="12984480">
                  <a:moveTo>
                    <a:pt x="0" y="0"/>
                  </a:moveTo>
                  <a:lnTo>
                    <a:pt x="12984480" y="0"/>
                  </a:lnTo>
                  <a:lnTo>
                    <a:pt x="1298448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2091" r="0" b="-48209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12984480" cy="4659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7C3AED"/>
                  </a:solidFill>
                  <a:latin typeface="Noto Sans Thai Bold"/>
                  <a:ea typeface="Noto Sans Thai Bold"/>
                  <a:cs typeface="Noto Sans Thai Bold"/>
                  <a:sym typeface="Noto Sans Thai Bold"/>
                </a:rPr>
                <a:t>ส่วนที่ 1 — Technical Mastery &amp; Scalability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22960" y="1069848"/>
            <a:ext cx="1261872" cy="754380"/>
            <a:chOff x="0" y="0"/>
            <a:chExt cx="1682496" cy="10058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82496" cy="1005840"/>
            </a:xfrm>
            <a:custGeom>
              <a:avLst/>
              <a:gdLst/>
              <a:ahLst/>
              <a:cxnLst/>
              <a:rect r="r" b="b" t="t" l="l"/>
              <a:pathLst>
                <a:path h="1005840" w="1682496">
                  <a:moveTo>
                    <a:pt x="0" y="0"/>
                  </a:moveTo>
                  <a:lnTo>
                    <a:pt x="1682496" y="0"/>
                  </a:lnTo>
                  <a:lnTo>
                    <a:pt x="1682496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703" t="0" r="-26703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1682496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7C3AED"/>
                  </a:solidFill>
                  <a:latin typeface="Arimo Bold"/>
                  <a:ea typeface="Arimo Bold"/>
                  <a:cs typeface="Arimo Bold"/>
                  <a:sym typeface="Arimo Bold"/>
                </a:rPr>
                <a:t>01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125980" y="1069848"/>
            <a:ext cx="14676120" cy="790946"/>
            <a:chOff x="0" y="0"/>
            <a:chExt cx="19568160" cy="105459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568161" cy="1054595"/>
            </a:xfrm>
            <a:custGeom>
              <a:avLst/>
              <a:gdLst/>
              <a:ahLst/>
              <a:cxnLst/>
              <a:rect r="r" b="b" t="t" l="l"/>
              <a:pathLst>
                <a:path h="1054595" w="19568161">
                  <a:moveTo>
                    <a:pt x="0" y="0"/>
                  </a:moveTo>
                  <a:lnTo>
                    <a:pt x="19568161" y="0"/>
                  </a:lnTo>
                  <a:lnTo>
                    <a:pt x="19568161" y="1054595"/>
                  </a:lnTo>
                  <a:lnTo>
                    <a:pt x="0" y="105459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9928" r="0" b="-303166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19568160" cy="1064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410"/>
                </a:lnSpc>
              </a:pPr>
              <a:r>
                <a:rPr lang="en-US" sz="3675" b="true">
                  <a:solidFill>
                    <a:srgbClr val="172033"/>
                  </a:solidFill>
                  <a:latin typeface="Noto Sans Thai Bold"/>
                  <a:ea typeface="Noto Sans Thai Bold"/>
                  <a:cs typeface="Noto Sans Thai Bold"/>
                  <a:sym typeface="Noto Sans Thai Bold"/>
                </a:rPr>
                <a:t>Smart &amp; Stale Rider Assignment</a:t>
              </a:r>
            </a:p>
          </p:txBody>
        </p:sp>
      </p:grpSp>
      <p:sp>
        <p:nvSpPr>
          <p:cNvPr name="AutoShape 13" id="13"/>
          <p:cNvSpPr/>
          <p:nvPr/>
        </p:nvSpPr>
        <p:spPr>
          <a:xfrm rot="3960">
            <a:off x="840857" y="1942909"/>
            <a:ext cx="16615420" cy="0"/>
          </a:xfrm>
          <a:prstGeom prst="line">
            <a:avLst/>
          </a:prstGeom>
          <a:ln cap="rnd" w="9525">
            <a:solidFill>
              <a:srgbClr val="D8E0E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16870680" y="9710928"/>
            <a:ext cx="548640" cy="246888"/>
            <a:chOff x="0" y="0"/>
            <a:chExt cx="731520" cy="32918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31520" cy="329184"/>
            </a:xfrm>
            <a:custGeom>
              <a:avLst/>
              <a:gdLst/>
              <a:ahLst/>
              <a:cxnLst/>
              <a:rect r="r" b="b" t="t" l="l"/>
              <a:pathLst>
                <a:path h="329184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736" t="0" r="-7736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731520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5758B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1 / 7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69848" y="2359152"/>
            <a:ext cx="16184880" cy="322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0"/>
              </a:lnSpc>
            </a:pPr>
            <a:r>
              <a:rPr lang="en-US" sz="2325">
                <a:solidFill>
                  <a:srgbClr val="172033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จงเขียนฟังก์ชัน assignRider(order, riders) เพื่อหา Rider ที่เหมาะสมที่สุด โดยมีเงื่อนไข:</a:t>
            </a:r>
          </a:p>
          <a:p>
            <a:pPr algn="l">
              <a:lnSpc>
                <a:spcPts val="2790"/>
              </a:lnSpc>
            </a:pPr>
            <a:r>
              <a:rPr lang="en-US" sz="2325">
                <a:solidFill>
                  <a:srgbClr val="172033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• Distance: ใช้สูตร Haversine คำนวณระยะทางจาก Rider ถึงร้านอาหาร</a:t>
            </a:r>
          </a:p>
          <a:p>
            <a:pPr algn="l">
              <a:lnSpc>
                <a:spcPts val="2790"/>
              </a:lnSpc>
            </a:pPr>
            <a:r>
              <a:rPr lang="en-US" sz="2325">
                <a:solidFill>
                  <a:srgbClr val="172033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• Stale Data Protection: ห้ามเลือก Rider ที่ไม่ได้อัปเดตพิกัดเกิน 2 นาที</a:t>
            </a:r>
          </a:p>
          <a:p>
            <a:pPr algn="l">
              <a:lnSpc>
                <a:spcPts val="2790"/>
              </a:lnSpc>
            </a:pPr>
            <a:r>
              <a:rPr lang="en-US" sz="2325">
                <a:solidFill>
                  <a:srgbClr val="172033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• Tie-breaker: ถ้าระยะทางต่างกันไม่เกิน 500 เมตร ให้เลือกคนที่มี Rating สูงกว่า</a:t>
            </a:r>
          </a:p>
          <a:p>
            <a:pPr algn="l">
              <a:lnSpc>
                <a:spcPts val="2790"/>
              </a:lnSpc>
            </a:pPr>
            <a:r>
              <a:rPr lang="en-US" sz="2325">
                <a:solidFill>
                  <a:srgbClr val="172033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• Edge Case: หากไม่มี Rider ในระยะ 5 กม. เลย ระบบควรทำอย่างไร? อธิบาย Logic การขยายรัศมีหรือ Fallback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49643" y="5914834"/>
            <a:ext cx="16342995" cy="3587115"/>
            <a:chOff x="0" y="0"/>
            <a:chExt cx="21790660" cy="47828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790661" cy="4782820"/>
            </a:xfrm>
            <a:custGeom>
              <a:avLst/>
              <a:gdLst/>
              <a:ahLst/>
              <a:cxnLst/>
              <a:rect r="r" b="b" t="t" l="l"/>
              <a:pathLst>
                <a:path h="4782820" w="21790661">
                  <a:moveTo>
                    <a:pt x="0" y="220726"/>
                  </a:moveTo>
                  <a:cubicBezTo>
                    <a:pt x="0" y="98806"/>
                    <a:pt x="98806" y="0"/>
                    <a:pt x="220726" y="0"/>
                  </a:cubicBezTo>
                  <a:lnTo>
                    <a:pt x="21569935" y="0"/>
                  </a:lnTo>
                  <a:cubicBezTo>
                    <a:pt x="21691854" y="0"/>
                    <a:pt x="21790661" y="98806"/>
                    <a:pt x="21790661" y="220726"/>
                  </a:cubicBezTo>
                  <a:lnTo>
                    <a:pt x="21790661" y="4562094"/>
                  </a:lnTo>
                  <a:cubicBezTo>
                    <a:pt x="21790661" y="4684014"/>
                    <a:pt x="21691854" y="4782820"/>
                    <a:pt x="21569935" y="4782820"/>
                  </a:cubicBezTo>
                  <a:lnTo>
                    <a:pt x="220726" y="4782820"/>
                  </a:lnTo>
                  <a:cubicBezTo>
                    <a:pt x="98806" y="4782820"/>
                    <a:pt x="0" y="4684014"/>
                    <a:pt x="0" y="4562094"/>
                  </a:cubicBezTo>
                  <a:close/>
                </a:path>
              </a:pathLst>
            </a:custGeom>
            <a:solidFill>
              <a:srgbClr val="FFFFFF"/>
            </a:solidFill>
            <a:ln w="20955" cap="sq">
              <a:solidFill>
                <a:srgbClr val="D8E0EA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303020" y="6172200"/>
            <a:ext cx="3291840" cy="301752"/>
            <a:chOff x="0" y="0"/>
            <a:chExt cx="4389120" cy="40233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389120" cy="402336"/>
            </a:xfrm>
            <a:custGeom>
              <a:avLst/>
              <a:gdLst/>
              <a:ahLst/>
              <a:cxnLst/>
              <a:rect r="r" b="b" t="t" l="l"/>
              <a:pathLst>
                <a:path h="402336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564" r="0" b="-162564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9525"/>
              <a:ext cx="4389120" cy="3928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65758B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พื้นที่สำหรับใส่คำตอบ</a:t>
              </a:r>
            </a:p>
          </p:txBody>
        </p:sp>
      </p:grpSp>
      <p:sp>
        <p:nvSpPr>
          <p:cNvPr name="AutoShape 23" id="23"/>
          <p:cNvSpPr/>
          <p:nvPr/>
        </p:nvSpPr>
        <p:spPr>
          <a:xfrm>
            <a:off x="1311023" y="6852315"/>
            <a:ext cx="15510506" cy="11370"/>
          </a:xfrm>
          <a:prstGeom prst="line">
            <a:avLst/>
          </a:prstGeom>
          <a:ln cap="rnd" w="9525">
            <a:solidFill>
              <a:srgbClr val="EEF2F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 rot="2520">
            <a:off x="1311021" y="7429310"/>
            <a:ext cx="15510510" cy="0"/>
          </a:xfrm>
          <a:prstGeom prst="line">
            <a:avLst/>
          </a:prstGeom>
          <a:ln cap="rnd" w="9525">
            <a:solidFill>
              <a:srgbClr val="EEF2F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 rot="2520">
            <a:off x="1311021" y="8005382"/>
            <a:ext cx="15510510" cy="0"/>
          </a:xfrm>
          <a:prstGeom prst="line">
            <a:avLst/>
          </a:prstGeom>
          <a:ln cap="rnd" w="9525">
            <a:solidFill>
              <a:srgbClr val="EEF2F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 rot="2520">
            <a:off x="1311021" y="8581454"/>
            <a:ext cx="15510510" cy="0"/>
          </a:xfrm>
          <a:prstGeom prst="line">
            <a:avLst/>
          </a:prstGeom>
          <a:ln cap="rnd" w="9525">
            <a:solidFill>
              <a:srgbClr val="EEF2F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7" id="27"/>
          <p:cNvSpPr txBox="true"/>
          <p:nvPr/>
        </p:nvSpPr>
        <p:spPr>
          <a:xfrm rot="0">
            <a:off x="1311023" y="6708187"/>
            <a:ext cx="16184880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0"/>
              </a:lnSpc>
            </a:pPr>
            <a:r>
              <a:rPr lang="en-US" sz="2325" b="true">
                <a:solidFill>
                  <a:srgbClr val="FF5757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สามารถเปิด WebApp Smart &amp; Stale Rider Assignment ได้ใน Index Git</a:t>
            </a:r>
          </a:p>
          <a:p>
            <a:pPr algn="l">
              <a:lnSpc>
                <a:spcPts val="2790"/>
              </a:lnSpc>
            </a:pPr>
            <a:r>
              <a:rPr lang="en-US" sz="2325" b="true">
                <a:solidFill>
                  <a:srgbClr val="FF5757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 ที่ผมแนบไว้ได้เลยครับ</a:t>
            </a:r>
          </a:p>
          <a:p>
            <a:pPr algn="l">
              <a:lnSpc>
                <a:spcPts val="2790"/>
              </a:lnSpc>
            </a:pPr>
            <a:r>
              <a:rPr lang="en-US" b="true" sz="2325">
                <a:solidFill>
                  <a:srgbClr val="FF5757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ไฟล์ชื่อ ข้อ 1 Smart &amp; Stale Rider Assignment → index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97358"/>
            <a:chOff x="0" y="0"/>
            <a:chExt cx="24408790" cy="2631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63144"/>
            </a:xfrm>
            <a:custGeom>
              <a:avLst/>
              <a:gdLst/>
              <a:ahLst/>
              <a:cxnLst/>
              <a:rect r="r" b="b" t="t" l="l"/>
              <a:pathLst>
                <a:path h="263144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63144"/>
                  </a:lnTo>
                  <a:lnTo>
                    <a:pt x="0" y="263144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0392" y="521208"/>
            <a:ext cx="9738360" cy="356616"/>
            <a:chOff x="0" y="0"/>
            <a:chExt cx="12984480" cy="4754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984480" cy="475488"/>
            </a:xfrm>
            <a:custGeom>
              <a:avLst/>
              <a:gdLst/>
              <a:ahLst/>
              <a:cxnLst/>
              <a:rect r="r" b="b" t="t" l="l"/>
              <a:pathLst>
                <a:path h="475488" w="12984480">
                  <a:moveTo>
                    <a:pt x="0" y="0"/>
                  </a:moveTo>
                  <a:lnTo>
                    <a:pt x="12984480" y="0"/>
                  </a:lnTo>
                  <a:lnTo>
                    <a:pt x="1298448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2091" r="0" b="-48209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12984480" cy="4659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7C3AED"/>
                  </a:solidFill>
                  <a:latin typeface="Noto Sans Thai Bold"/>
                  <a:ea typeface="Noto Sans Thai Bold"/>
                  <a:cs typeface="Noto Sans Thai Bold"/>
                  <a:sym typeface="Noto Sans Thai Bold"/>
                </a:rPr>
                <a:t>ส่วนที่ 1 — Technical Mastery &amp; Scalability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841980" y="480060"/>
            <a:ext cx="1577340" cy="411480"/>
            <a:chOff x="0" y="0"/>
            <a:chExt cx="2103120" cy="548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03120" cy="548640"/>
            </a:xfrm>
            <a:custGeom>
              <a:avLst/>
              <a:gdLst/>
              <a:ahLst/>
              <a:cxnLst/>
              <a:rect r="r" b="b" t="t" l="l"/>
              <a:pathLst>
                <a:path h="548640" w="2103120">
                  <a:moveTo>
                    <a:pt x="0" y="0"/>
                  </a:moveTo>
                  <a:lnTo>
                    <a:pt x="2103120" y="0"/>
                  </a:lnTo>
                  <a:lnTo>
                    <a:pt x="2103120" y="548640"/>
                  </a:lnTo>
                  <a:lnTo>
                    <a:pt x="0" y="54864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2103120" cy="5391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7C3AED"/>
                  </a:solidFill>
                  <a:latin typeface="Noto Sans Thai Bold"/>
                  <a:ea typeface="Noto Sans Thai Bold"/>
                  <a:cs typeface="Noto Sans Thai Bold"/>
                  <a:sym typeface="Noto Sans Thai Bold"/>
                </a:rPr>
                <a:t>10 คะแนน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22960" y="1069848"/>
            <a:ext cx="1261872" cy="754380"/>
            <a:chOff x="0" y="0"/>
            <a:chExt cx="1682496" cy="10058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82496" cy="1005840"/>
            </a:xfrm>
            <a:custGeom>
              <a:avLst/>
              <a:gdLst/>
              <a:ahLst/>
              <a:cxnLst/>
              <a:rect r="r" b="b" t="t" l="l"/>
              <a:pathLst>
                <a:path h="1005840" w="1682496">
                  <a:moveTo>
                    <a:pt x="0" y="0"/>
                  </a:moveTo>
                  <a:lnTo>
                    <a:pt x="1682496" y="0"/>
                  </a:lnTo>
                  <a:lnTo>
                    <a:pt x="1682496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703" t="0" r="-26703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1682496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7C3AED"/>
                  </a:solidFill>
                  <a:latin typeface="Arimo Bold"/>
                  <a:ea typeface="Arimo Bold"/>
                  <a:cs typeface="Arimo Bold"/>
                  <a:sym typeface="Arimo Bold"/>
                </a:rPr>
                <a:t>02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125980" y="1069848"/>
            <a:ext cx="14676120" cy="790946"/>
            <a:chOff x="0" y="0"/>
            <a:chExt cx="19568160" cy="105459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568161" cy="1054595"/>
            </a:xfrm>
            <a:custGeom>
              <a:avLst/>
              <a:gdLst/>
              <a:ahLst/>
              <a:cxnLst/>
              <a:rect r="r" b="b" t="t" l="l"/>
              <a:pathLst>
                <a:path h="1054595" w="19568161">
                  <a:moveTo>
                    <a:pt x="0" y="0"/>
                  </a:moveTo>
                  <a:lnTo>
                    <a:pt x="19568161" y="0"/>
                  </a:lnTo>
                  <a:lnTo>
                    <a:pt x="19568161" y="1054595"/>
                  </a:lnTo>
                  <a:lnTo>
                    <a:pt x="0" y="105459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9928" r="0" b="-303166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19568160" cy="1064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410"/>
                </a:lnSpc>
              </a:pPr>
              <a:r>
                <a:rPr lang="en-US" sz="3675" b="true">
                  <a:solidFill>
                    <a:srgbClr val="172033"/>
                  </a:solidFill>
                  <a:latin typeface="Noto Sans Thai Bold"/>
                  <a:ea typeface="Noto Sans Thai Bold"/>
                  <a:cs typeface="Noto Sans Thai Bold"/>
                  <a:sym typeface="Noto Sans Thai Bold"/>
                </a:rPr>
                <a:t>SQL — Revenue Attribution &amp; Ranking</a:t>
              </a:r>
            </a:p>
          </p:txBody>
        </p:sp>
      </p:grpSp>
      <p:sp>
        <p:nvSpPr>
          <p:cNvPr name="AutoShape 16" id="16"/>
          <p:cNvSpPr/>
          <p:nvPr/>
        </p:nvSpPr>
        <p:spPr>
          <a:xfrm rot="3960">
            <a:off x="840857" y="1942909"/>
            <a:ext cx="16615420" cy="0"/>
          </a:xfrm>
          <a:prstGeom prst="line">
            <a:avLst/>
          </a:prstGeom>
          <a:ln cap="rnd" w="9525">
            <a:solidFill>
              <a:srgbClr val="D8E0E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16870680" y="9710928"/>
            <a:ext cx="548640" cy="246888"/>
            <a:chOff x="0" y="0"/>
            <a:chExt cx="731520" cy="32918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31520" cy="329184"/>
            </a:xfrm>
            <a:custGeom>
              <a:avLst/>
              <a:gdLst/>
              <a:ahLst/>
              <a:cxnLst/>
              <a:rect r="r" b="b" t="t" l="l"/>
              <a:pathLst>
                <a:path h="329184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736" t="0" r="-7736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731520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5758B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2 / 7</a:t>
              </a:r>
            </a:p>
          </p:txBody>
        </p:sp>
      </p:grpSp>
      <p:sp>
        <p:nvSpPr>
          <p:cNvPr name="AutoShape 20" id="20"/>
          <p:cNvSpPr/>
          <p:nvPr/>
        </p:nvSpPr>
        <p:spPr>
          <a:xfrm>
            <a:off x="4427415" y="6384239"/>
            <a:ext cx="15510506" cy="11370"/>
          </a:xfrm>
          <a:prstGeom prst="line">
            <a:avLst/>
          </a:prstGeom>
          <a:ln cap="rnd" w="9525">
            <a:solidFill>
              <a:srgbClr val="EEF2F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1" id="21"/>
          <p:cNvSpPr/>
          <p:nvPr/>
        </p:nvSpPr>
        <p:spPr>
          <a:xfrm flipH="false" flipV="false" rot="0">
            <a:off x="2770042" y="4949952"/>
            <a:ext cx="2333377" cy="1185406"/>
          </a:xfrm>
          <a:custGeom>
            <a:avLst/>
            <a:gdLst/>
            <a:ahLst/>
            <a:cxnLst/>
            <a:rect r="r" b="b" t="t" l="l"/>
            <a:pathLst>
              <a:path h="1185406" w="2333377">
                <a:moveTo>
                  <a:pt x="0" y="0"/>
                </a:moveTo>
                <a:lnTo>
                  <a:pt x="2333377" y="0"/>
                </a:lnTo>
                <a:lnTo>
                  <a:pt x="2333377" y="1185406"/>
                </a:lnTo>
                <a:lnTo>
                  <a:pt x="0" y="11854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6258504" y="4788027"/>
            <a:ext cx="3327273" cy="4869180"/>
          </a:xfrm>
          <a:custGeom>
            <a:avLst/>
            <a:gdLst/>
            <a:ahLst/>
            <a:cxnLst/>
            <a:rect r="r" b="b" t="t" l="l"/>
            <a:pathLst>
              <a:path h="4869180" w="3327273">
                <a:moveTo>
                  <a:pt x="0" y="0"/>
                </a:moveTo>
                <a:lnTo>
                  <a:pt x="3327273" y="0"/>
                </a:lnTo>
                <a:lnTo>
                  <a:pt x="3327273" y="4869180"/>
                </a:lnTo>
                <a:lnTo>
                  <a:pt x="0" y="48691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0380072" y="4949952"/>
            <a:ext cx="5107077" cy="3895783"/>
          </a:xfrm>
          <a:custGeom>
            <a:avLst/>
            <a:gdLst/>
            <a:ahLst/>
            <a:cxnLst/>
            <a:rect r="r" b="b" t="t" l="l"/>
            <a:pathLst>
              <a:path h="3895783" w="5107077">
                <a:moveTo>
                  <a:pt x="0" y="0"/>
                </a:moveTo>
                <a:lnTo>
                  <a:pt x="5107076" y="0"/>
                </a:lnTo>
                <a:lnTo>
                  <a:pt x="5107076" y="3895783"/>
                </a:lnTo>
                <a:lnTo>
                  <a:pt x="0" y="389578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069848" y="2368677"/>
            <a:ext cx="16184880" cy="1895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172033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จงเขียน SQL เพื่อหา “ร้านอาหารที่มีมูลค่าคำสั่งซื้อเฉลี่ย (AOV) สูงสุด 3 อันดับแรกในแต่ละ Category” โดย:</a:t>
            </a:r>
          </a:p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172033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• นับเฉพาะออเดอร์ที่ status = 'delivered' ในเดือนปัจจุบันเท่านั้น</a:t>
            </a:r>
          </a:p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172033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• ต้องจัดการกรณีที่บางร้านไม่มีออเดอร์เลย</a:t>
            </a:r>
          </a:p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172033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• ต้องใช้ Window Function เพื่อจัดอันดับภายในกลุ่ม</a:t>
            </a:r>
          </a:p>
          <a:p>
            <a:pPr algn="l">
              <a:lnSpc>
                <a:spcPts val="3060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1168082" y="4083177"/>
            <a:ext cx="16835389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b="true" sz="2550">
                <a:solidFill>
                  <a:srgbClr val="FF5757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Query SQL แนบไว้ในไฟล์(Git) ข้อที่ 2 SQL — Revenue Attribution &amp; Ranking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97358"/>
            <a:chOff x="0" y="0"/>
            <a:chExt cx="24408790" cy="2631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63144"/>
            </a:xfrm>
            <a:custGeom>
              <a:avLst/>
              <a:gdLst/>
              <a:ahLst/>
              <a:cxnLst/>
              <a:rect r="r" b="b" t="t" l="l"/>
              <a:pathLst>
                <a:path h="263144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63144"/>
                  </a:lnTo>
                  <a:lnTo>
                    <a:pt x="0" y="263144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0392" y="521208"/>
            <a:ext cx="9738360" cy="356616"/>
            <a:chOff x="0" y="0"/>
            <a:chExt cx="12984480" cy="4754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984480" cy="475488"/>
            </a:xfrm>
            <a:custGeom>
              <a:avLst/>
              <a:gdLst/>
              <a:ahLst/>
              <a:cxnLst/>
              <a:rect r="r" b="b" t="t" l="l"/>
              <a:pathLst>
                <a:path h="475488" w="12984480">
                  <a:moveTo>
                    <a:pt x="0" y="0"/>
                  </a:moveTo>
                  <a:lnTo>
                    <a:pt x="12984480" y="0"/>
                  </a:lnTo>
                  <a:lnTo>
                    <a:pt x="1298448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2091" r="0" b="-48209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12984480" cy="4659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7C3AED"/>
                  </a:solidFill>
                  <a:latin typeface="Noto Sans Thai Bold"/>
                  <a:ea typeface="Noto Sans Thai Bold"/>
                  <a:cs typeface="Noto Sans Thai Bold"/>
                  <a:sym typeface="Noto Sans Thai Bold"/>
                </a:rPr>
                <a:t>ส่วนที่ 1 — Technical Mastery &amp; Scalability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841980" y="480060"/>
            <a:ext cx="1577340" cy="411480"/>
            <a:chOff x="0" y="0"/>
            <a:chExt cx="2103120" cy="548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03120" cy="548640"/>
            </a:xfrm>
            <a:custGeom>
              <a:avLst/>
              <a:gdLst/>
              <a:ahLst/>
              <a:cxnLst/>
              <a:rect r="r" b="b" t="t" l="l"/>
              <a:pathLst>
                <a:path h="548640" w="2103120">
                  <a:moveTo>
                    <a:pt x="0" y="0"/>
                  </a:moveTo>
                  <a:lnTo>
                    <a:pt x="2103120" y="0"/>
                  </a:lnTo>
                  <a:lnTo>
                    <a:pt x="2103120" y="548640"/>
                  </a:lnTo>
                  <a:lnTo>
                    <a:pt x="0" y="54864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2103120" cy="5391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7C3AED"/>
                  </a:solidFill>
                  <a:latin typeface="Noto Sans Thai Bold"/>
                  <a:ea typeface="Noto Sans Thai Bold"/>
                  <a:cs typeface="Noto Sans Thai Bold"/>
                  <a:sym typeface="Noto Sans Thai Bold"/>
                </a:rPr>
                <a:t>10 คะแนน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22960" y="1069848"/>
            <a:ext cx="1261872" cy="754380"/>
            <a:chOff x="0" y="0"/>
            <a:chExt cx="1682496" cy="10058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82496" cy="1005840"/>
            </a:xfrm>
            <a:custGeom>
              <a:avLst/>
              <a:gdLst/>
              <a:ahLst/>
              <a:cxnLst/>
              <a:rect r="r" b="b" t="t" l="l"/>
              <a:pathLst>
                <a:path h="1005840" w="1682496">
                  <a:moveTo>
                    <a:pt x="0" y="0"/>
                  </a:moveTo>
                  <a:lnTo>
                    <a:pt x="1682496" y="0"/>
                  </a:lnTo>
                  <a:lnTo>
                    <a:pt x="1682496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703" t="0" r="-26703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1682496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7C3AED"/>
                  </a:solidFill>
                  <a:latin typeface="Arimo Bold"/>
                  <a:ea typeface="Arimo Bold"/>
                  <a:cs typeface="Arimo Bold"/>
                  <a:sym typeface="Arimo Bold"/>
                </a:rPr>
                <a:t>02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125980" y="1069848"/>
            <a:ext cx="14676120" cy="658368"/>
            <a:chOff x="0" y="0"/>
            <a:chExt cx="19568160" cy="87782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568161" cy="877824"/>
            </a:xfrm>
            <a:custGeom>
              <a:avLst/>
              <a:gdLst/>
              <a:ahLst/>
              <a:cxnLst/>
              <a:rect r="r" b="b" t="t" l="l"/>
              <a:pathLst>
                <a:path h="877824" w="19568161">
                  <a:moveTo>
                    <a:pt x="0" y="0"/>
                  </a:moveTo>
                  <a:lnTo>
                    <a:pt x="19568161" y="0"/>
                  </a:lnTo>
                  <a:lnTo>
                    <a:pt x="19568161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4353" r="0" b="-384353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19568160" cy="8873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410"/>
                </a:lnSpc>
              </a:pPr>
              <a:r>
                <a:rPr lang="en-US" sz="3675" b="true">
                  <a:solidFill>
                    <a:srgbClr val="172033"/>
                  </a:solidFill>
                  <a:latin typeface="Noto Sans Thai Bold"/>
                  <a:ea typeface="Noto Sans Thai Bold"/>
                  <a:cs typeface="Noto Sans Thai Bold"/>
                  <a:sym typeface="Noto Sans Thai Bold"/>
                </a:rPr>
                <a:t>SQL — Revenue Attribution &amp; Ranking</a:t>
              </a:r>
            </a:p>
          </p:txBody>
        </p:sp>
      </p:grpSp>
      <p:sp>
        <p:nvSpPr>
          <p:cNvPr name="AutoShape 16" id="16"/>
          <p:cNvSpPr/>
          <p:nvPr/>
        </p:nvSpPr>
        <p:spPr>
          <a:xfrm rot="3960">
            <a:off x="840857" y="1942909"/>
            <a:ext cx="16615420" cy="0"/>
          </a:xfrm>
          <a:prstGeom prst="line">
            <a:avLst/>
          </a:prstGeom>
          <a:ln cap="rnd" w="9525">
            <a:solidFill>
              <a:srgbClr val="D8E0E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16870680" y="9710928"/>
            <a:ext cx="548640" cy="246888"/>
            <a:chOff x="0" y="0"/>
            <a:chExt cx="731520" cy="32918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31520" cy="329184"/>
            </a:xfrm>
            <a:custGeom>
              <a:avLst/>
              <a:gdLst/>
              <a:ahLst/>
              <a:cxnLst/>
              <a:rect r="r" b="b" t="t" l="l"/>
              <a:pathLst>
                <a:path h="329184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736" t="0" r="-7736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731520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5758B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2 / 7</a:t>
              </a:r>
            </a:p>
          </p:txBody>
        </p:sp>
      </p:grpSp>
      <p:sp>
        <p:nvSpPr>
          <p:cNvPr name="AutoShape 20" id="20"/>
          <p:cNvSpPr/>
          <p:nvPr/>
        </p:nvSpPr>
        <p:spPr>
          <a:xfrm rot="2520">
            <a:off x="1311021" y="6236018"/>
            <a:ext cx="15510510" cy="0"/>
          </a:xfrm>
          <a:prstGeom prst="line">
            <a:avLst/>
          </a:prstGeom>
          <a:ln cap="rnd" w="9525">
            <a:solidFill>
              <a:srgbClr val="EEF2F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1" id="21"/>
          <p:cNvSpPr/>
          <p:nvPr/>
        </p:nvSpPr>
        <p:spPr>
          <a:xfrm flipH="false" flipV="false" rot="0">
            <a:off x="2890339" y="4664202"/>
            <a:ext cx="12507322" cy="4687957"/>
          </a:xfrm>
          <a:custGeom>
            <a:avLst/>
            <a:gdLst/>
            <a:ahLst/>
            <a:cxnLst/>
            <a:rect r="r" b="b" t="t" l="l"/>
            <a:pathLst>
              <a:path h="4687957" w="12507322">
                <a:moveTo>
                  <a:pt x="0" y="0"/>
                </a:moveTo>
                <a:lnTo>
                  <a:pt x="12507322" y="0"/>
                </a:lnTo>
                <a:lnTo>
                  <a:pt x="12507322" y="4687957"/>
                </a:lnTo>
                <a:lnTo>
                  <a:pt x="0" y="46879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069848" y="2368677"/>
            <a:ext cx="16184880" cy="1514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172033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จงเขียน SQL เพื่อหา “ร้านอาหารที่มีมูลค่าคำสั่งซื้อเฉลี่ย (AOV) สูงสุด 3 อันดับแรกในแต่ละ Category” โดย:</a:t>
            </a:r>
          </a:p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172033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• นับเฉพาะออเดอร์ที่ status = 'delivered' ในเดือนปัจจุบันเท่านั้น</a:t>
            </a:r>
          </a:p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172033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• ต้องจัดการกรณีที่บางร้านไม่มีออเดอร์เลย</a:t>
            </a:r>
          </a:p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172033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• ต้องใช้ Window Function เพื่อจัดอันดับภายในกลุ่ม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68082" y="4083177"/>
            <a:ext cx="16835389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b="true" sz="2550">
                <a:solidFill>
                  <a:srgbClr val="FF5757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Query SQL แนบไว้ในไฟล์(Git) ข้อที่ 2 SQL — Revenue Attribution &amp; Ranking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97358"/>
            <a:chOff x="0" y="0"/>
            <a:chExt cx="24408790" cy="2631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63144"/>
            </a:xfrm>
            <a:custGeom>
              <a:avLst/>
              <a:gdLst/>
              <a:ahLst/>
              <a:cxnLst/>
              <a:rect r="r" b="b" t="t" l="l"/>
              <a:pathLst>
                <a:path h="263144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63144"/>
                  </a:lnTo>
                  <a:lnTo>
                    <a:pt x="0" y="263144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0392" y="521208"/>
            <a:ext cx="9738360" cy="356616"/>
            <a:chOff x="0" y="0"/>
            <a:chExt cx="12984480" cy="4754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984480" cy="475488"/>
            </a:xfrm>
            <a:custGeom>
              <a:avLst/>
              <a:gdLst/>
              <a:ahLst/>
              <a:cxnLst/>
              <a:rect r="r" b="b" t="t" l="l"/>
              <a:pathLst>
                <a:path h="475488" w="12984480">
                  <a:moveTo>
                    <a:pt x="0" y="0"/>
                  </a:moveTo>
                  <a:lnTo>
                    <a:pt x="12984480" y="0"/>
                  </a:lnTo>
                  <a:lnTo>
                    <a:pt x="1298448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2091" r="0" b="-48209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12984480" cy="4659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7C3AED"/>
                  </a:solidFill>
                  <a:latin typeface="Noto Sans Thai Bold"/>
                  <a:ea typeface="Noto Sans Thai Bold"/>
                  <a:cs typeface="Noto Sans Thai Bold"/>
                  <a:sym typeface="Noto Sans Thai Bold"/>
                </a:rPr>
                <a:t>ส่วนที่ 1 — Technical Mastery &amp; Scalability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841980" y="480060"/>
            <a:ext cx="1577340" cy="411480"/>
            <a:chOff x="0" y="0"/>
            <a:chExt cx="2103120" cy="548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03120" cy="548640"/>
            </a:xfrm>
            <a:custGeom>
              <a:avLst/>
              <a:gdLst/>
              <a:ahLst/>
              <a:cxnLst/>
              <a:rect r="r" b="b" t="t" l="l"/>
              <a:pathLst>
                <a:path h="548640" w="2103120">
                  <a:moveTo>
                    <a:pt x="0" y="0"/>
                  </a:moveTo>
                  <a:lnTo>
                    <a:pt x="2103120" y="0"/>
                  </a:lnTo>
                  <a:lnTo>
                    <a:pt x="2103120" y="548640"/>
                  </a:lnTo>
                  <a:lnTo>
                    <a:pt x="0" y="54864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2103120" cy="5391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7C3AED"/>
                  </a:solidFill>
                  <a:latin typeface="Noto Sans Thai Bold"/>
                  <a:ea typeface="Noto Sans Thai Bold"/>
                  <a:cs typeface="Noto Sans Thai Bold"/>
                  <a:sym typeface="Noto Sans Thai Bold"/>
                </a:rPr>
                <a:t>15 คะแนน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22960" y="1069848"/>
            <a:ext cx="1261872" cy="754380"/>
            <a:chOff x="0" y="0"/>
            <a:chExt cx="1682496" cy="10058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82496" cy="1005840"/>
            </a:xfrm>
            <a:custGeom>
              <a:avLst/>
              <a:gdLst/>
              <a:ahLst/>
              <a:cxnLst/>
              <a:rect r="r" b="b" t="t" l="l"/>
              <a:pathLst>
                <a:path h="1005840" w="1682496">
                  <a:moveTo>
                    <a:pt x="0" y="0"/>
                  </a:moveTo>
                  <a:lnTo>
                    <a:pt x="1682496" y="0"/>
                  </a:lnTo>
                  <a:lnTo>
                    <a:pt x="1682496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703" t="0" r="-26703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1682496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7C3AED"/>
                  </a:solidFill>
                  <a:latin typeface="Arimo Bold"/>
                  <a:ea typeface="Arimo Bold"/>
                  <a:cs typeface="Arimo Bold"/>
                  <a:sym typeface="Arimo Bold"/>
                </a:rPr>
                <a:t>03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125980" y="1069848"/>
            <a:ext cx="14676120" cy="790946"/>
            <a:chOff x="0" y="0"/>
            <a:chExt cx="19568160" cy="105459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568161" cy="1054595"/>
            </a:xfrm>
            <a:custGeom>
              <a:avLst/>
              <a:gdLst/>
              <a:ahLst/>
              <a:cxnLst/>
              <a:rect r="r" b="b" t="t" l="l"/>
              <a:pathLst>
                <a:path h="1054595" w="19568161">
                  <a:moveTo>
                    <a:pt x="0" y="0"/>
                  </a:moveTo>
                  <a:lnTo>
                    <a:pt x="19568161" y="0"/>
                  </a:lnTo>
                  <a:lnTo>
                    <a:pt x="19568161" y="1054595"/>
                  </a:lnTo>
                  <a:lnTo>
                    <a:pt x="0" y="105459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9928" r="0" b="-303166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19568160" cy="1064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410"/>
                </a:lnSpc>
              </a:pPr>
              <a:r>
                <a:rPr lang="en-US" sz="3675" b="true">
                  <a:solidFill>
                    <a:srgbClr val="172033"/>
                  </a:solidFill>
                  <a:latin typeface="Noto Sans Thai Bold"/>
                  <a:ea typeface="Noto Sans Thai Bold"/>
                  <a:cs typeface="Noto Sans Thai Bold"/>
                  <a:sym typeface="Noto Sans Thai Bold"/>
                </a:rPr>
                <a:t>Code Review — Inventory Race Condition</a:t>
              </a:r>
            </a:p>
          </p:txBody>
        </p:sp>
      </p:grpSp>
      <p:sp>
        <p:nvSpPr>
          <p:cNvPr name="AutoShape 16" id="16"/>
          <p:cNvSpPr/>
          <p:nvPr/>
        </p:nvSpPr>
        <p:spPr>
          <a:xfrm rot="3960">
            <a:off x="840857" y="1942909"/>
            <a:ext cx="16615420" cy="0"/>
          </a:xfrm>
          <a:prstGeom prst="line">
            <a:avLst/>
          </a:prstGeom>
          <a:ln cap="rnd" w="9525">
            <a:solidFill>
              <a:srgbClr val="D8E0E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16870680" y="9710928"/>
            <a:ext cx="548640" cy="246888"/>
            <a:chOff x="0" y="0"/>
            <a:chExt cx="731520" cy="32918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31520" cy="329184"/>
            </a:xfrm>
            <a:custGeom>
              <a:avLst/>
              <a:gdLst/>
              <a:ahLst/>
              <a:cxnLst/>
              <a:rect r="r" b="b" t="t" l="l"/>
              <a:pathLst>
                <a:path h="329184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736" t="0" r="-7736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731520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5758B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3 / 7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69848" y="2359152"/>
            <a:ext cx="16184880" cy="438912"/>
            <a:chOff x="0" y="0"/>
            <a:chExt cx="21579840" cy="58521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579839" cy="585216"/>
            </a:xfrm>
            <a:custGeom>
              <a:avLst/>
              <a:gdLst/>
              <a:ahLst/>
              <a:cxnLst/>
              <a:rect r="r" b="b" t="t" l="l"/>
              <a:pathLst>
                <a:path h="585216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8510" r="0" b="-66851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2157984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72033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จงแก้ไข Code ที่ใช้ตัดสต็อกเมื่อมีการสั่งซื้อ: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34440" y="2907792"/>
            <a:ext cx="15704820" cy="2400300"/>
            <a:chOff x="0" y="0"/>
            <a:chExt cx="20939760" cy="3200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0939761" cy="3200400"/>
            </a:xfrm>
            <a:custGeom>
              <a:avLst/>
              <a:gdLst/>
              <a:ahLst/>
              <a:cxnLst/>
              <a:rect r="r" b="b" t="t" l="l"/>
              <a:pathLst>
                <a:path h="3200400" w="20939761">
                  <a:moveTo>
                    <a:pt x="0" y="0"/>
                  </a:moveTo>
                  <a:lnTo>
                    <a:pt x="20939761" y="0"/>
                  </a:lnTo>
                  <a:lnTo>
                    <a:pt x="20939761" y="3200400"/>
                  </a:lnTo>
                  <a:lnTo>
                    <a:pt x="0" y="32004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20939760" cy="320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33415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async function placeOrder(orderId, items) {</a:t>
              </a:r>
            </a:p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33415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 for (const item of items) {</a:t>
              </a:r>
            </a:p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33415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   const product = await db.query(`SELECT stock FROM menu WHERE id = ${item.id}`);</a:t>
              </a:r>
            </a:p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33415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   if (product.stock &gt;= item.qty) {</a:t>
              </a:r>
            </a:p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33415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     await db.query(`UPDATE menu SET stock = stock - ${item.qty} WHERE id = ${item.id}`);</a:t>
              </a:r>
            </a:p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33415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   }</a:t>
              </a:r>
            </a:p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33415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 }</a:t>
              </a:r>
            </a:p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33415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 await Order.create({ id: orderId, status: 'confirmed' });</a:t>
              </a:r>
            </a:p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33415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}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69848" y="5513832"/>
            <a:ext cx="16184880" cy="754380"/>
            <a:chOff x="0" y="0"/>
            <a:chExt cx="21579840" cy="10058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1579839" cy="1005840"/>
            </a:xfrm>
            <a:custGeom>
              <a:avLst/>
              <a:gdLst/>
              <a:ahLst/>
              <a:cxnLst/>
              <a:rect r="r" b="b" t="t" l="l"/>
              <a:pathLst>
                <a:path h="100584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8042" r="0" b="-368042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21579840" cy="1005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74"/>
                </a:lnSpc>
              </a:pPr>
              <a:r>
                <a:rPr lang="en-US" sz="2145">
                  <a:solidFill>
                    <a:srgbClr val="172033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ระบุปัญหา N+1 Query, Race Condition (สต็อกติดลบ), และการขาด Transaction พร้อมเขียน Code ใหม่ที่ใช้ Atomic Update หรือ Pessimistic Locking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49643" y="6545770"/>
            <a:ext cx="16342995" cy="2956179"/>
            <a:chOff x="0" y="0"/>
            <a:chExt cx="21790660" cy="394157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1790661" cy="3941572"/>
            </a:xfrm>
            <a:custGeom>
              <a:avLst/>
              <a:gdLst/>
              <a:ahLst/>
              <a:cxnLst/>
              <a:rect r="r" b="b" t="t" l="l"/>
              <a:pathLst>
                <a:path h="3941572" w="21790661">
                  <a:moveTo>
                    <a:pt x="0" y="220980"/>
                  </a:moveTo>
                  <a:cubicBezTo>
                    <a:pt x="0" y="98933"/>
                    <a:pt x="98933" y="0"/>
                    <a:pt x="220980" y="0"/>
                  </a:cubicBezTo>
                  <a:lnTo>
                    <a:pt x="21569680" y="0"/>
                  </a:lnTo>
                  <a:cubicBezTo>
                    <a:pt x="21691727" y="0"/>
                    <a:pt x="21790661" y="98933"/>
                    <a:pt x="21790661" y="220980"/>
                  </a:cubicBezTo>
                  <a:lnTo>
                    <a:pt x="21790661" y="3720592"/>
                  </a:lnTo>
                  <a:cubicBezTo>
                    <a:pt x="21790661" y="3842639"/>
                    <a:pt x="21691727" y="3941572"/>
                    <a:pt x="21569680" y="3941572"/>
                  </a:cubicBezTo>
                  <a:lnTo>
                    <a:pt x="220980" y="3941572"/>
                  </a:lnTo>
                  <a:cubicBezTo>
                    <a:pt x="98933" y="3941572"/>
                    <a:pt x="0" y="3842639"/>
                    <a:pt x="0" y="3720592"/>
                  </a:cubicBezTo>
                  <a:close/>
                </a:path>
              </a:pathLst>
            </a:custGeom>
            <a:solidFill>
              <a:srgbClr val="FFFFFF"/>
            </a:solidFill>
            <a:ln w="20955" cap="sq">
              <a:solidFill>
                <a:srgbClr val="D8E0EA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303020" y="6803136"/>
            <a:ext cx="3291840" cy="301752"/>
            <a:chOff x="0" y="0"/>
            <a:chExt cx="4389120" cy="40233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389120" cy="402336"/>
            </a:xfrm>
            <a:custGeom>
              <a:avLst/>
              <a:gdLst/>
              <a:ahLst/>
              <a:cxnLst/>
              <a:rect r="r" b="b" t="t" l="l"/>
              <a:pathLst>
                <a:path h="402336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564" r="0" b="-162564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9525"/>
              <a:ext cx="4389120" cy="3928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65758B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พื้นที่สำหรับใส่คำตอบ</a:t>
              </a:r>
            </a:p>
          </p:txBody>
        </p:sp>
      </p:grpSp>
      <p:sp>
        <p:nvSpPr>
          <p:cNvPr name="AutoShape 34" id="34"/>
          <p:cNvSpPr/>
          <p:nvPr/>
        </p:nvSpPr>
        <p:spPr>
          <a:xfrm>
            <a:off x="1311023" y="7483251"/>
            <a:ext cx="15510506" cy="11370"/>
          </a:xfrm>
          <a:prstGeom prst="line">
            <a:avLst/>
          </a:prstGeom>
          <a:ln cap="rnd" w="9525">
            <a:solidFill>
              <a:srgbClr val="EEF2F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5" id="35"/>
          <p:cNvSpPr/>
          <p:nvPr/>
        </p:nvSpPr>
        <p:spPr>
          <a:xfrm rot="2520">
            <a:off x="1311021" y="8060246"/>
            <a:ext cx="15510510" cy="0"/>
          </a:xfrm>
          <a:prstGeom prst="line">
            <a:avLst/>
          </a:prstGeom>
          <a:ln cap="rnd" w="9525">
            <a:solidFill>
              <a:srgbClr val="EEF2F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6" id="36"/>
          <p:cNvSpPr/>
          <p:nvPr/>
        </p:nvSpPr>
        <p:spPr>
          <a:xfrm rot="2520">
            <a:off x="1311021" y="8636318"/>
            <a:ext cx="15510510" cy="0"/>
          </a:xfrm>
          <a:prstGeom prst="line">
            <a:avLst/>
          </a:prstGeom>
          <a:ln cap="rnd" w="9525">
            <a:solidFill>
              <a:srgbClr val="EEF2F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7" id="37"/>
          <p:cNvGrpSpPr/>
          <p:nvPr/>
        </p:nvGrpSpPr>
        <p:grpSpPr>
          <a:xfrm rot="0">
            <a:off x="1311023" y="7314438"/>
            <a:ext cx="15587089" cy="1758454"/>
            <a:chOff x="0" y="0"/>
            <a:chExt cx="20782785" cy="234460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0782784" cy="2344606"/>
            </a:xfrm>
            <a:custGeom>
              <a:avLst/>
              <a:gdLst/>
              <a:ahLst/>
              <a:cxnLst/>
              <a:rect r="r" b="b" t="t" l="l"/>
              <a:pathLst>
                <a:path h="2344606" w="20782784">
                  <a:moveTo>
                    <a:pt x="0" y="0"/>
                  </a:moveTo>
                  <a:lnTo>
                    <a:pt x="20782784" y="0"/>
                  </a:lnTo>
                  <a:lnTo>
                    <a:pt x="20782784" y="2344606"/>
                  </a:lnTo>
                  <a:lnTo>
                    <a:pt x="0" y="234460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890" r="-3835" b="-100791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20782785" cy="2344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74"/>
                </a:lnSpc>
              </a:pPr>
              <a:r>
                <a:rPr lang="en-US" sz="2145">
                  <a:solidFill>
                    <a:srgbClr val="172033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โค้ดเก่ามีปัญหาคือ มันเช็กสต็อกก่อน แล้วค่อยไปหักทีหลัง ถ้ามีลูกค้าหลายคนกดซื้อพร้อมกัน ทุกคนอาจเห็นว่าสินค้ายังเหลือเท่ากัน แล้วพากันซื้อจนสต็อกติดลบได้ อีกอย่างคือถ้า Order มีหลายชิ้น แล้วหักไปแล้วบางชิ้น แต่ชิ้นถัดไปของหมด มันก็อาจค้างแบบหักไปครึ่ง ๆ กลาง ๆ</a:t>
              </a:r>
            </a:p>
            <a:p>
              <a:pPr algn="l">
                <a:lnSpc>
                  <a:spcPts val="2574"/>
                </a:lnSpc>
              </a:pPr>
            </a:p>
            <a:p>
              <a:pPr algn="l">
                <a:lnSpc>
                  <a:spcPts val="2574"/>
                </a:lnSpc>
              </a:pPr>
              <a:r>
                <a:rPr lang="en-US" sz="2145">
                  <a:solidFill>
                    <a:srgbClr val="172033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โค้ดใหม่เลยแก้ให้ เช็กและหักสต็อกในคำสั่งเดียว ถ้าของไม่พอก็ไม่ให้หักเลย แล้วครอบด้วย Transaction เพื่อให้ทั้ง Order ต้องสำเร็จพร้อมกัน ถ้ามีตัวไหนพัง ก็ยกเลิกทั้งหมด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3204031" y="6545770"/>
            <a:ext cx="16184880" cy="754380"/>
            <a:chOff x="0" y="0"/>
            <a:chExt cx="21579840" cy="10058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1579839" cy="1005840"/>
            </a:xfrm>
            <a:custGeom>
              <a:avLst/>
              <a:gdLst/>
              <a:ahLst/>
              <a:cxnLst/>
              <a:rect r="r" b="b" t="t" l="l"/>
              <a:pathLst>
                <a:path h="100584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8042" r="0" b="-368042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21579840" cy="1005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74"/>
                </a:lnSpc>
              </a:pPr>
              <a:r>
                <a:rPr lang="en-US" b="true" sz="2145">
                  <a:solidFill>
                    <a:srgbClr val="FF5757"/>
                  </a:solidFill>
                  <a:latin typeface="Noto Sans Thai Bold"/>
                  <a:ea typeface="Noto Sans Thai Bold"/>
                  <a:cs typeface="Noto Sans Thai Bold"/>
                  <a:sym typeface="Noto Sans Thai Bold"/>
                </a:rPr>
                <a:t>Coding แนบไว้ในไฟล์(Git)ครับ ข้อที่ 3 Code Review — Inventory Race Condition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97358"/>
            <a:chOff x="0" y="0"/>
            <a:chExt cx="24408790" cy="2631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63144"/>
            </a:xfrm>
            <a:custGeom>
              <a:avLst/>
              <a:gdLst/>
              <a:ahLst/>
              <a:cxnLst/>
              <a:rect r="r" b="b" t="t" l="l"/>
              <a:pathLst>
                <a:path h="263144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63144"/>
                  </a:lnTo>
                  <a:lnTo>
                    <a:pt x="0" y="263144"/>
                  </a:lnTo>
                  <a:close/>
                </a:path>
              </a:pathLst>
            </a:custGeom>
            <a:solidFill>
              <a:srgbClr val="0EA5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0392" y="521208"/>
            <a:ext cx="9738360" cy="356616"/>
            <a:chOff x="0" y="0"/>
            <a:chExt cx="12984480" cy="4754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984480" cy="475488"/>
            </a:xfrm>
            <a:custGeom>
              <a:avLst/>
              <a:gdLst/>
              <a:ahLst/>
              <a:cxnLst/>
              <a:rect r="r" b="b" t="t" l="l"/>
              <a:pathLst>
                <a:path h="475488" w="12984480">
                  <a:moveTo>
                    <a:pt x="0" y="0"/>
                  </a:moveTo>
                  <a:lnTo>
                    <a:pt x="12984480" y="0"/>
                  </a:lnTo>
                  <a:lnTo>
                    <a:pt x="1298448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2091" r="0" b="-48209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12984480" cy="4659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0EA5E9"/>
                  </a:solidFill>
                  <a:latin typeface="Noto Sans Thai Bold"/>
                  <a:ea typeface="Noto Sans Thai Bold"/>
                  <a:cs typeface="Noto Sans Thai Bold"/>
                  <a:sym typeface="Noto Sans Thai Bold"/>
                </a:rPr>
                <a:t>ส่วนที่ 2 — System Design &amp; Business Logic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841980" y="480060"/>
            <a:ext cx="1577340" cy="411480"/>
            <a:chOff x="0" y="0"/>
            <a:chExt cx="2103120" cy="548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03120" cy="548640"/>
            </a:xfrm>
            <a:custGeom>
              <a:avLst/>
              <a:gdLst/>
              <a:ahLst/>
              <a:cxnLst/>
              <a:rect r="r" b="b" t="t" l="l"/>
              <a:pathLst>
                <a:path h="548640" w="2103120">
                  <a:moveTo>
                    <a:pt x="0" y="0"/>
                  </a:moveTo>
                  <a:lnTo>
                    <a:pt x="2103120" y="0"/>
                  </a:lnTo>
                  <a:lnTo>
                    <a:pt x="2103120" y="548640"/>
                  </a:lnTo>
                  <a:lnTo>
                    <a:pt x="0" y="54864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2103120" cy="5391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0EA5E9"/>
                  </a:solidFill>
                  <a:latin typeface="Noto Sans Thai Bold"/>
                  <a:ea typeface="Noto Sans Thai Bold"/>
                  <a:cs typeface="Noto Sans Thai Bold"/>
                  <a:sym typeface="Noto Sans Thai Bold"/>
                </a:rPr>
                <a:t>15 คะแนน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22960" y="1069848"/>
            <a:ext cx="1261872" cy="754380"/>
            <a:chOff x="0" y="0"/>
            <a:chExt cx="1682496" cy="10058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82496" cy="1005840"/>
            </a:xfrm>
            <a:custGeom>
              <a:avLst/>
              <a:gdLst/>
              <a:ahLst/>
              <a:cxnLst/>
              <a:rect r="r" b="b" t="t" l="l"/>
              <a:pathLst>
                <a:path h="1005840" w="1682496">
                  <a:moveTo>
                    <a:pt x="0" y="0"/>
                  </a:moveTo>
                  <a:lnTo>
                    <a:pt x="1682496" y="0"/>
                  </a:lnTo>
                  <a:lnTo>
                    <a:pt x="1682496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703" t="0" r="-26703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1682496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0EA5E9"/>
                  </a:solidFill>
                  <a:latin typeface="Arimo Bold"/>
                  <a:ea typeface="Arimo Bold"/>
                  <a:cs typeface="Arimo Bold"/>
                  <a:sym typeface="Arimo Bold"/>
                </a:rPr>
                <a:t>04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125980" y="1069848"/>
            <a:ext cx="14676120" cy="658368"/>
            <a:chOff x="0" y="0"/>
            <a:chExt cx="19568160" cy="87782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568161" cy="877824"/>
            </a:xfrm>
            <a:custGeom>
              <a:avLst/>
              <a:gdLst/>
              <a:ahLst/>
              <a:cxnLst/>
              <a:rect r="r" b="b" t="t" l="l"/>
              <a:pathLst>
                <a:path h="877824" w="19568161">
                  <a:moveTo>
                    <a:pt x="0" y="0"/>
                  </a:moveTo>
                  <a:lnTo>
                    <a:pt x="19568161" y="0"/>
                  </a:lnTo>
                  <a:lnTo>
                    <a:pt x="19568161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4353" r="0" b="-384353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19568160" cy="8873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410"/>
                </a:lnSpc>
              </a:pPr>
              <a:r>
                <a:rPr lang="en-US" sz="3675" b="true">
                  <a:solidFill>
                    <a:srgbClr val="172033"/>
                  </a:solidFill>
                  <a:latin typeface="Noto Sans Thai Bold"/>
                  <a:ea typeface="Noto Sans Thai Bold"/>
                  <a:cs typeface="Noto Sans Thai Bold"/>
                  <a:sym typeface="Noto Sans Thai Bold"/>
                </a:rPr>
                <a:t>Real-time Live Tracking Architecture</a:t>
              </a:r>
            </a:p>
          </p:txBody>
        </p:sp>
      </p:grpSp>
      <p:sp>
        <p:nvSpPr>
          <p:cNvPr name="AutoShape 16" id="16"/>
          <p:cNvSpPr/>
          <p:nvPr/>
        </p:nvSpPr>
        <p:spPr>
          <a:xfrm rot="3960">
            <a:off x="840857" y="1942909"/>
            <a:ext cx="16615420" cy="0"/>
          </a:xfrm>
          <a:prstGeom prst="line">
            <a:avLst/>
          </a:prstGeom>
          <a:ln cap="rnd" w="9525">
            <a:solidFill>
              <a:srgbClr val="D8E0E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16870680" y="9710928"/>
            <a:ext cx="548640" cy="246888"/>
            <a:chOff x="0" y="0"/>
            <a:chExt cx="731520" cy="32918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31520" cy="329184"/>
            </a:xfrm>
            <a:custGeom>
              <a:avLst/>
              <a:gdLst/>
              <a:ahLst/>
              <a:cxnLst/>
              <a:rect r="r" b="b" t="t" l="l"/>
              <a:pathLst>
                <a:path h="329184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736" t="0" r="-7736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731520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5758B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4 / 7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069848" y="2359152"/>
            <a:ext cx="16184880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172033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ออกแบบระบบที่รองรับการติดตาม Rider 2,000 คนพร้อมกัน โดยลูกค้า 10,000 คนต้องเห็นตำแหน่งขยับแบบ Real-time: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172033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• Data Flow: จะใช้โปรโตคอลใดระหว่าง WebSocket, gRPC, หรือ MQTT เพราะเหตุใด?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49643" y="5133022"/>
            <a:ext cx="16342995" cy="4368927"/>
            <a:chOff x="0" y="0"/>
            <a:chExt cx="21790660" cy="582523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790659" cy="5825236"/>
            </a:xfrm>
            <a:custGeom>
              <a:avLst/>
              <a:gdLst/>
              <a:ahLst/>
              <a:cxnLst/>
              <a:rect r="r" b="b" t="t" l="l"/>
              <a:pathLst>
                <a:path h="5825236" w="21790659">
                  <a:moveTo>
                    <a:pt x="0" y="220472"/>
                  </a:moveTo>
                  <a:cubicBezTo>
                    <a:pt x="0" y="98679"/>
                    <a:pt x="98679" y="0"/>
                    <a:pt x="220472" y="0"/>
                  </a:cubicBezTo>
                  <a:lnTo>
                    <a:pt x="21570187" y="0"/>
                  </a:lnTo>
                  <a:cubicBezTo>
                    <a:pt x="21691980" y="0"/>
                    <a:pt x="21790659" y="98679"/>
                    <a:pt x="21790659" y="220472"/>
                  </a:cubicBezTo>
                  <a:lnTo>
                    <a:pt x="21790659" y="5604764"/>
                  </a:lnTo>
                  <a:cubicBezTo>
                    <a:pt x="21790659" y="5726557"/>
                    <a:pt x="21691980" y="5825236"/>
                    <a:pt x="21570187" y="5825236"/>
                  </a:cubicBezTo>
                  <a:lnTo>
                    <a:pt x="220472" y="5825236"/>
                  </a:lnTo>
                  <a:cubicBezTo>
                    <a:pt x="98679" y="5825236"/>
                    <a:pt x="0" y="5726557"/>
                    <a:pt x="0" y="5604764"/>
                  </a:cubicBezTo>
                  <a:close/>
                </a:path>
              </a:pathLst>
            </a:custGeom>
            <a:solidFill>
              <a:srgbClr val="FFFFFF"/>
            </a:solidFill>
            <a:ln w="20955" cap="sq">
              <a:solidFill>
                <a:srgbClr val="D8E0EA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303020" y="5390388"/>
            <a:ext cx="3291840" cy="340338"/>
            <a:chOff x="0" y="0"/>
            <a:chExt cx="4389120" cy="45378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389120" cy="453784"/>
            </a:xfrm>
            <a:custGeom>
              <a:avLst/>
              <a:gdLst/>
              <a:ahLst/>
              <a:cxnLst/>
              <a:rect r="r" b="b" t="t" l="l"/>
              <a:pathLst>
                <a:path h="453784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453784"/>
                  </a:lnTo>
                  <a:lnTo>
                    <a:pt x="0" y="4537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133" r="0" b="-13279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9525"/>
              <a:ext cx="4389120" cy="4442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65758B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พื้นที่สำหรับใส่คำตอบ</a:t>
              </a:r>
            </a:p>
          </p:txBody>
        </p:sp>
      </p:grpSp>
      <p:sp>
        <p:nvSpPr>
          <p:cNvPr name="AutoShape 26" id="26"/>
          <p:cNvSpPr/>
          <p:nvPr/>
        </p:nvSpPr>
        <p:spPr>
          <a:xfrm rot="2520">
            <a:off x="1311021" y="6071425"/>
            <a:ext cx="15510510" cy="0"/>
          </a:xfrm>
          <a:prstGeom prst="line">
            <a:avLst/>
          </a:prstGeom>
          <a:ln cap="rnd" w="9525">
            <a:solidFill>
              <a:srgbClr val="EEF2F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 rot="2520">
            <a:off x="1311021" y="6647497"/>
            <a:ext cx="15510510" cy="0"/>
          </a:xfrm>
          <a:prstGeom prst="line">
            <a:avLst/>
          </a:prstGeom>
          <a:ln cap="rnd" w="9525">
            <a:solidFill>
              <a:srgbClr val="EEF2F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 rot="2520">
            <a:off x="1311021" y="7223570"/>
            <a:ext cx="15510510" cy="0"/>
          </a:xfrm>
          <a:prstGeom prst="line">
            <a:avLst/>
          </a:prstGeom>
          <a:ln cap="rnd" w="9525">
            <a:solidFill>
              <a:srgbClr val="EEF2F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 rot="2520">
            <a:off x="1311021" y="7799642"/>
            <a:ext cx="15510510" cy="0"/>
          </a:xfrm>
          <a:prstGeom prst="line">
            <a:avLst/>
          </a:prstGeom>
          <a:ln cap="rnd" w="9525">
            <a:solidFill>
              <a:srgbClr val="EEF2F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 rot="2520">
            <a:off x="1311021" y="8375714"/>
            <a:ext cx="15510510" cy="0"/>
          </a:xfrm>
          <a:prstGeom prst="line">
            <a:avLst/>
          </a:prstGeom>
          <a:ln cap="rnd" w="9525">
            <a:solidFill>
              <a:srgbClr val="EEF2F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 rot="2520">
            <a:off x="1311021" y="8951786"/>
            <a:ext cx="15510510" cy="0"/>
          </a:xfrm>
          <a:prstGeom prst="line">
            <a:avLst/>
          </a:prstGeom>
          <a:ln cap="rnd" w="9525">
            <a:solidFill>
              <a:srgbClr val="EEF2F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2" id="32"/>
          <p:cNvSpPr txBox="true"/>
          <p:nvPr/>
        </p:nvSpPr>
        <p:spPr>
          <a:xfrm rot="0">
            <a:off x="1143667" y="5981700"/>
            <a:ext cx="16037242" cy="3686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172033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เลื</a:t>
            </a:r>
            <a:r>
              <a:rPr lang="en-US" sz="2700">
                <a:solidFill>
                  <a:srgbClr val="172033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อกใช้โปรโตคอล </a:t>
            </a:r>
            <a:r>
              <a:rPr lang="en-US" sz="2700" b="true">
                <a:solidFill>
                  <a:srgbClr val="7ED957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MQTT</a:t>
            </a:r>
            <a:r>
              <a:rPr lang="en-US" sz="2700">
                <a:solidFill>
                  <a:srgbClr val="172033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เหมาะกว่า WebSocket และ gRPC สำหรับการส่งตำแหน่งจาก Rider เพราะข้อมูล GPS มีขนาดเล็กและต้องส่งบ่อยทุก 2 วินาที MQTT ใช้ข้อมูลในการสื่อสารน้อย รองรับ Client จำนวนมาก มีระบบ Publish/Subscribe </a:t>
            </a:r>
          </a:p>
          <a:p>
            <a:pPr algn="l">
              <a:lnSpc>
                <a:spcPts val="3240"/>
              </a:lnSpc>
            </a:pP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172033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และสามารถกลับมาเชื่อมต่อใหม่ได้ดีเมื่อ Internet ของ Rider ไม่เสถียร ส่วน WebSocket เหมาะกับการส่งตำแหน่งจาก Server ไปยัง Customer แบบ Real-time และ gRPC เหมาะกับการสื่อสารระหว่าง Backend Services มากกว่า</a:t>
            </a:r>
          </a:p>
          <a:p>
            <a:pPr algn="l">
              <a:lnSpc>
                <a:spcPts val="3240"/>
              </a:lnSpc>
            </a:pPr>
          </a:p>
          <a:p>
            <a:pPr algn="l">
              <a:lnSpc>
                <a:spcPts val="3240"/>
              </a:lnSpc>
            </a:pPr>
          </a:p>
          <a:p>
            <a:pPr algn="l">
              <a:lnSpc>
                <a:spcPts val="3240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97358"/>
            <a:chOff x="0" y="0"/>
            <a:chExt cx="24408790" cy="2631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63144"/>
            </a:xfrm>
            <a:custGeom>
              <a:avLst/>
              <a:gdLst/>
              <a:ahLst/>
              <a:cxnLst/>
              <a:rect r="r" b="b" t="t" l="l"/>
              <a:pathLst>
                <a:path h="263144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63144"/>
                  </a:lnTo>
                  <a:lnTo>
                    <a:pt x="0" y="263144"/>
                  </a:lnTo>
                  <a:close/>
                </a:path>
              </a:pathLst>
            </a:custGeom>
            <a:solidFill>
              <a:srgbClr val="0EA5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0392" y="521208"/>
            <a:ext cx="9738360" cy="356616"/>
            <a:chOff x="0" y="0"/>
            <a:chExt cx="12984480" cy="4754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984480" cy="475488"/>
            </a:xfrm>
            <a:custGeom>
              <a:avLst/>
              <a:gdLst/>
              <a:ahLst/>
              <a:cxnLst/>
              <a:rect r="r" b="b" t="t" l="l"/>
              <a:pathLst>
                <a:path h="475488" w="12984480">
                  <a:moveTo>
                    <a:pt x="0" y="0"/>
                  </a:moveTo>
                  <a:lnTo>
                    <a:pt x="12984480" y="0"/>
                  </a:lnTo>
                  <a:lnTo>
                    <a:pt x="1298448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2091" r="0" b="-48209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12984480" cy="4659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0EA5E9"/>
                  </a:solidFill>
                  <a:latin typeface="Noto Sans Thai Bold"/>
                  <a:ea typeface="Noto Sans Thai Bold"/>
                  <a:cs typeface="Noto Sans Thai Bold"/>
                  <a:sym typeface="Noto Sans Thai Bold"/>
                </a:rPr>
                <a:t>ส่วนที่ 2 — System Design &amp; Business Logic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841980" y="480060"/>
            <a:ext cx="1577340" cy="411480"/>
            <a:chOff x="0" y="0"/>
            <a:chExt cx="2103120" cy="548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03120" cy="548640"/>
            </a:xfrm>
            <a:custGeom>
              <a:avLst/>
              <a:gdLst/>
              <a:ahLst/>
              <a:cxnLst/>
              <a:rect r="r" b="b" t="t" l="l"/>
              <a:pathLst>
                <a:path h="548640" w="2103120">
                  <a:moveTo>
                    <a:pt x="0" y="0"/>
                  </a:moveTo>
                  <a:lnTo>
                    <a:pt x="2103120" y="0"/>
                  </a:lnTo>
                  <a:lnTo>
                    <a:pt x="2103120" y="548640"/>
                  </a:lnTo>
                  <a:lnTo>
                    <a:pt x="0" y="54864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2103120" cy="5391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0EA5E9"/>
                  </a:solidFill>
                  <a:latin typeface="Noto Sans Thai Bold"/>
                  <a:ea typeface="Noto Sans Thai Bold"/>
                  <a:cs typeface="Noto Sans Thai Bold"/>
                  <a:sym typeface="Noto Sans Thai Bold"/>
                </a:rPr>
                <a:t>15 คะแนน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22960" y="1069848"/>
            <a:ext cx="1261872" cy="754380"/>
            <a:chOff x="0" y="0"/>
            <a:chExt cx="1682496" cy="10058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82496" cy="1005840"/>
            </a:xfrm>
            <a:custGeom>
              <a:avLst/>
              <a:gdLst/>
              <a:ahLst/>
              <a:cxnLst/>
              <a:rect r="r" b="b" t="t" l="l"/>
              <a:pathLst>
                <a:path h="1005840" w="1682496">
                  <a:moveTo>
                    <a:pt x="0" y="0"/>
                  </a:moveTo>
                  <a:lnTo>
                    <a:pt x="1682496" y="0"/>
                  </a:lnTo>
                  <a:lnTo>
                    <a:pt x="1682496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703" t="0" r="-26703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1682496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0EA5E9"/>
                  </a:solidFill>
                  <a:latin typeface="Arimo Bold"/>
                  <a:ea typeface="Arimo Bold"/>
                  <a:cs typeface="Arimo Bold"/>
                  <a:sym typeface="Arimo Bold"/>
                </a:rPr>
                <a:t>04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125980" y="1069848"/>
            <a:ext cx="14676120" cy="658368"/>
            <a:chOff x="0" y="0"/>
            <a:chExt cx="19568160" cy="87782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568161" cy="877824"/>
            </a:xfrm>
            <a:custGeom>
              <a:avLst/>
              <a:gdLst/>
              <a:ahLst/>
              <a:cxnLst/>
              <a:rect r="r" b="b" t="t" l="l"/>
              <a:pathLst>
                <a:path h="877824" w="19568161">
                  <a:moveTo>
                    <a:pt x="0" y="0"/>
                  </a:moveTo>
                  <a:lnTo>
                    <a:pt x="19568161" y="0"/>
                  </a:lnTo>
                  <a:lnTo>
                    <a:pt x="19568161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4353" r="0" b="-384353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19568160" cy="8873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410"/>
                </a:lnSpc>
              </a:pPr>
              <a:r>
                <a:rPr lang="en-US" sz="3675" b="true">
                  <a:solidFill>
                    <a:srgbClr val="172033"/>
                  </a:solidFill>
                  <a:latin typeface="Noto Sans Thai Bold"/>
                  <a:ea typeface="Noto Sans Thai Bold"/>
                  <a:cs typeface="Noto Sans Thai Bold"/>
                  <a:sym typeface="Noto Sans Thai Bold"/>
                </a:rPr>
                <a:t>Real-time Live Tracking Architecture</a:t>
              </a:r>
            </a:p>
          </p:txBody>
        </p:sp>
      </p:grpSp>
      <p:sp>
        <p:nvSpPr>
          <p:cNvPr name="AutoShape 16" id="16"/>
          <p:cNvSpPr/>
          <p:nvPr/>
        </p:nvSpPr>
        <p:spPr>
          <a:xfrm rot="3960">
            <a:off x="840857" y="1942909"/>
            <a:ext cx="16615420" cy="0"/>
          </a:xfrm>
          <a:prstGeom prst="line">
            <a:avLst/>
          </a:prstGeom>
          <a:ln cap="rnd" w="9525">
            <a:solidFill>
              <a:srgbClr val="D8E0E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16870680" y="9710928"/>
            <a:ext cx="548640" cy="246888"/>
            <a:chOff x="0" y="0"/>
            <a:chExt cx="731520" cy="32918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31520" cy="329184"/>
            </a:xfrm>
            <a:custGeom>
              <a:avLst/>
              <a:gdLst/>
              <a:ahLst/>
              <a:cxnLst/>
              <a:rect r="r" b="b" t="t" l="l"/>
              <a:pathLst>
                <a:path h="329184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736" t="0" r="-7736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731520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5758B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4 / 7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069848" y="2359152"/>
            <a:ext cx="16184880" cy="163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172033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ออกแบบระบบที่รองรับการติดตาม Rider 2,000 คนพร้อมกัน โดยลูกค้า 10,000 คนต้องเห็นตำแหน่งขยับแบบ Real-time: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172033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• Storage Strategy: ตำแหน่งพิกัดที่เปลี่ยนทุก 2 วินาที ควรเก็บลง Database ประเภทใด (SQL / NoSQL / In-memory) เพื่อไม่ให้ Disk I/O เต็ม?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49643" y="5133022"/>
            <a:ext cx="16342995" cy="4368927"/>
            <a:chOff x="0" y="0"/>
            <a:chExt cx="21790660" cy="582523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790659" cy="5825236"/>
            </a:xfrm>
            <a:custGeom>
              <a:avLst/>
              <a:gdLst/>
              <a:ahLst/>
              <a:cxnLst/>
              <a:rect r="r" b="b" t="t" l="l"/>
              <a:pathLst>
                <a:path h="5825236" w="21790659">
                  <a:moveTo>
                    <a:pt x="0" y="220472"/>
                  </a:moveTo>
                  <a:cubicBezTo>
                    <a:pt x="0" y="98679"/>
                    <a:pt x="98679" y="0"/>
                    <a:pt x="220472" y="0"/>
                  </a:cubicBezTo>
                  <a:lnTo>
                    <a:pt x="21570187" y="0"/>
                  </a:lnTo>
                  <a:cubicBezTo>
                    <a:pt x="21691980" y="0"/>
                    <a:pt x="21790659" y="98679"/>
                    <a:pt x="21790659" y="220472"/>
                  </a:cubicBezTo>
                  <a:lnTo>
                    <a:pt x="21790659" y="5604764"/>
                  </a:lnTo>
                  <a:cubicBezTo>
                    <a:pt x="21790659" y="5726557"/>
                    <a:pt x="21691980" y="5825236"/>
                    <a:pt x="21570187" y="5825236"/>
                  </a:cubicBezTo>
                  <a:lnTo>
                    <a:pt x="220472" y="5825236"/>
                  </a:lnTo>
                  <a:cubicBezTo>
                    <a:pt x="98679" y="5825236"/>
                    <a:pt x="0" y="5726557"/>
                    <a:pt x="0" y="5604764"/>
                  </a:cubicBezTo>
                  <a:close/>
                </a:path>
              </a:pathLst>
            </a:custGeom>
            <a:solidFill>
              <a:srgbClr val="FFFFFF"/>
            </a:solidFill>
            <a:ln w="20955" cap="sq">
              <a:solidFill>
                <a:srgbClr val="D8E0EA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303020" y="5390388"/>
            <a:ext cx="3291840" cy="301752"/>
            <a:chOff x="0" y="0"/>
            <a:chExt cx="4389120" cy="40233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389120" cy="402336"/>
            </a:xfrm>
            <a:custGeom>
              <a:avLst/>
              <a:gdLst/>
              <a:ahLst/>
              <a:cxnLst/>
              <a:rect r="r" b="b" t="t" l="l"/>
              <a:pathLst>
                <a:path h="402336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564" r="0" b="-162564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9525"/>
              <a:ext cx="4389120" cy="3928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65758B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พื้นที่สำหรับใส่คำตอบ</a:t>
              </a:r>
            </a:p>
          </p:txBody>
        </p:sp>
      </p:grpSp>
      <p:sp>
        <p:nvSpPr>
          <p:cNvPr name="AutoShape 26" id="26"/>
          <p:cNvSpPr/>
          <p:nvPr/>
        </p:nvSpPr>
        <p:spPr>
          <a:xfrm rot="2520">
            <a:off x="1311021" y="6071425"/>
            <a:ext cx="15510510" cy="0"/>
          </a:xfrm>
          <a:prstGeom prst="line">
            <a:avLst/>
          </a:prstGeom>
          <a:ln cap="rnd" w="9525">
            <a:solidFill>
              <a:srgbClr val="EEF2F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 rot="2520">
            <a:off x="1311021" y="6647497"/>
            <a:ext cx="15510510" cy="0"/>
          </a:xfrm>
          <a:prstGeom prst="line">
            <a:avLst/>
          </a:prstGeom>
          <a:ln cap="rnd" w="9525">
            <a:solidFill>
              <a:srgbClr val="EEF2F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 rot="2520">
            <a:off x="1311021" y="7223570"/>
            <a:ext cx="15510510" cy="0"/>
          </a:xfrm>
          <a:prstGeom prst="line">
            <a:avLst/>
          </a:prstGeom>
          <a:ln cap="rnd" w="9525">
            <a:solidFill>
              <a:srgbClr val="EEF2F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 rot="2520">
            <a:off x="1311021" y="7799642"/>
            <a:ext cx="15510510" cy="0"/>
          </a:xfrm>
          <a:prstGeom prst="line">
            <a:avLst/>
          </a:prstGeom>
          <a:ln cap="rnd" w="9525">
            <a:solidFill>
              <a:srgbClr val="EEF2F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 rot="2520">
            <a:off x="1311021" y="8375714"/>
            <a:ext cx="15510510" cy="0"/>
          </a:xfrm>
          <a:prstGeom prst="line">
            <a:avLst/>
          </a:prstGeom>
          <a:ln cap="rnd" w="9525">
            <a:solidFill>
              <a:srgbClr val="EEF2F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 rot="2520">
            <a:off x="1311021" y="8951786"/>
            <a:ext cx="15510510" cy="0"/>
          </a:xfrm>
          <a:prstGeom prst="line">
            <a:avLst/>
          </a:prstGeom>
          <a:ln cap="rnd" w="9525">
            <a:solidFill>
              <a:srgbClr val="EEF2F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2" id="32"/>
          <p:cNvSpPr txBox="true"/>
          <p:nvPr/>
        </p:nvSpPr>
        <p:spPr>
          <a:xfrm rot="0">
            <a:off x="1234440" y="6025515"/>
            <a:ext cx="16184880" cy="3276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172033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ส่วนการเ</a:t>
            </a:r>
            <a:r>
              <a:rPr lang="en-US" sz="2700">
                <a:solidFill>
                  <a:srgbClr val="172033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ก็บข้อมูล จะไม่บันทึกตำแหน่งทุก 2 วินาทีลง SQL โดยตรง เพราะ Rider 2,000 คนจะทำให้มีข้อมูลเข้ามาประมาณ 1,000 ครั้งต่อวินาที ซึ่งอาจทำให้ฐานข้อมูลทำงานหนักและพื้นที่เก็บข้อมูลเพิ่มเร็วมาก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172033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ดังนั้น 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172033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ตำแหน่งล่าสุดของ Rider ควรเก็บไว้ใน In memory ซึ่งเป็นหน่วยความจำที่อ่านและเขียนได้เร็ว เพื่อใช้แสดงตำแหน่งแบบ Real-time ส่วนประวัติตำแหน่งไม่จำเป็นต้องเก็บทุก 2 วินาที อาจเก็บทุก 15–30 วินาที 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172033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ลงฐานข้อมูลสำหรับดูย้อนหลัง ส่วน SQL ใช้เก็บข้อมูลหลัก เช่น Rider, ลูกค้า, Order และ Payment</a:t>
            </a:r>
          </a:p>
          <a:p>
            <a:pPr algn="l">
              <a:lnSpc>
                <a:spcPts val="3240"/>
              </a:lnSpc>
            </a:pPr>
          </a:p>
          <a:p>
            <a:pPr algn="l">
              <a:lnSpc>
                <a:spcPts val="3240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97358"/>
            <a:chOff x="0" y="0"/>
            <a:chExt cx="24408790" cy="2631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63144"/>
            </a:xfrm>
            <a:custGeom>
              <a:avLst/>
              <a:gdLst/>
              <a:ahLst/>
              <a:cxnLst/>
              <a:rect r="r" b="b" t="t" l="l"/>
              <a:pathLst>
                <a:path h="263144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63144"/>
                  </a:lnTo>
                  <a:lnTo>
                    <a:pt x="0" y="263144"/>
                  </a:lnTo>
                  <a:close/>
                </a:path>
              </a:pathLst>
            </a:custGeom>
            <a:solidFill>
              <a:srgbClr val="0EA5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0392" y="521208"/>
            <a:ext cx="9738360" cy="356616"/>
            <a:chOff x="0" y="0"/>
            <a:chExt cx="12984480" cy="4754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984480" cy="475488"/>
            </a:xfrm>
            <a:custGeom>
              <a:avLst/>
              <a:gdLst/>
              <a:ahLst/>
              <a:cxnLst/>
              <a:rect r="r" b="b" t="t" l="l"/>
              <a:pathLst>
                <a:path h="475488" w="12984480">
                  <a:moveTo>
                    <a:pt x="0" y="0"/>
                  </a:moveTo>
                  <a:lnTo>
                    <a:pt x="12984480" y="0"/>
                  </a:lnTo>
                  <a:lnTo>
                    <a:pt x="1298448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2091" r="0" b="-48209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12984480" cy="4659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0EA5E9"/>
                  </a:solidFill>
                  <a:latin typeface="Noto Sans Thai Bold"/>
                  <a:ea typeface="Noto Sans Thai Bold"/>
                  <a:cs typeface="Noto Sans Thai Bold"/>
                  <a:sym typeface="Noto Sans Thai Bold"/>
                </a:rPr>
                <a:t>ส่วนที่ 2 — System Design &amp; Business Logic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841980" y="480060"/>
            <a:ext cx="1577340" cy="411480"/>
            <a:chOff x="0" y="0"/>
            <a:chExt cx="2103120" cy="548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03120" cy="548640"/>
            </a:xfrm>
            <a:custGeom>
              <a:avLst/>
              <a:gdLst/>
              <a:ahLst/>
              <a:cxnLst/>
              <a:rect r="r" b="b" t="t" l="l"/>
              <a:pathLst>
                <a:path h="548640" w="2103120">
                  <a:moveTo>
                    <a:pt x="0" y="0"/>
                  </a:moveTo>
                  <a:lnTo>
                    <a:pt x="2103120" y="0"/>
                  </a:lnTo>
                  <a:lnTo>
                    <a:pt x="2103120" y="548640"/>
                  </a:lnTo>
                  <a:lnTo>
                    <a:pt x="0" y="54864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2103120" cy="5391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0EA5E9"/>
                  </a:solidFill>
                  <a:latin typeface="Noto Sans Thai Bold"/>
                  <a:ea typeface="Noto Sans Thai Bold"/>
                  <a:cs typeface="Noto Sans Thai Bold"/>
                  <a:sym typeface="Noto Sans Thai Bold"/>
                </a:rPr>
                <a:t>15 คะแนน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22960" y="1069848"/>
            <a:ext cx="1261872" cy="754380"/>
            <a:chOff x="0" y="0"/>
            <a:chExt cx="1682496" cy="10058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82496" cy="1005840"/>
            </a:xfrm>
            <a:custGeom>
              <a:avLst/>
              <a:gdLst/>
              <a:ahLst/>
              <a:cxnLst/>
              <a:rect r="r" b="b" t="t" l="l"/>
              <a:pathLst>
                <a:path h="1005840" w="1682496">
                  <a:moveTo>
                    <a:pt x="0" y="0"/>
                  </a:moveTo>
                  <a:lnTo>
                    <a:pt x="1682496" y="0"/>
                  </a:lnTo>
                  <a:lnTo>
                    <a:pt x="1682496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703" t="0" r="-26703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1682496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0EA5E9"/>
                  </a:solidFill>
                  <a:latin typeface="Arimo Bold"/>
                  <a:ea typeface="Arimo Bold"/>
                  <a:cs typeface="Arimo Bold"/>
                  <a:sym typeface="Arimo Bold"/>
                </a:rPr>
                <a:t>05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125980" y="1069848"/>
            <a:ext cx="14676120" cy="658368"/>
            <a:chOff x="0" y="0"/>
            <a:chExt cx="19568160" cy="87782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568161" cy="877824"/>
            </a:xfrm>
            <a:custGeom>
              <a:avLst/>
              <a:gdLst/>
              <a:ahLst/>
              <a:cxnLst/>
              <a:rect r="r" b="b" t="t" l="l"/>
              <a:pathLst>
                <a:path h="877824" w="19568161">
                  <a:moveTo>
                    <a:pt x="0" y="0"/>
                  </a:moveTo>
                  <a:lnTo>
                    <a:pt x="19568161" y="0"/>
                  </a:lnTo>
                  <a:lnTo>
                    <a:pt x="19568161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4353" r="0" b="-384353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19568160" cy="8873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410"/>
                </a:lnSpc>
              </a:pPr>
              <a:r>
                <a:rPr lang="en-US" sz="3675" b="true">
                  <a:solidFill>
                    <a:srgbClr val="172033"/>
                  </a:solidFill>
                  <a:latin typeface="Noto Sans Thai Bold"/>
                  <a:ea typeface="Noto Sans Thai Bold"/>
                  <a:cs typeface="Noto Sans Thai Bold"/>
                  <a:sym typeface="Noto Sans Thai Bold"/>
                </a:rPr>
                <a:t>Rush Hour Cancellation Crisis</a:t>
              </a:r>
            </a:p>
          </p:txBody>
        </p:sp>
      </p:grpSp>
      <p:sp>
        <p:nvSpPr>
          <p:cNvPr name="AutoShape 16" id="16"/>
          <p:cNvSpPr/>
          <p:nvPr/>
        </p:nvSpPr>
        <p:spPr>
          <a:xfrm rot="3960">
            <a:off x="840857" y="1942909"/>
            <a:ext cx="16615420" cy="0"/>
          </a:xfrm>
          <a:prstGeom prst="line">
            <a:avLst/>
          </a:prstGeom>
          <a:ln cap="rnd" w="9525">
            <a:solidFill>
              <a:srgbClr val="D8E0E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16870680" y="9710928"/>
            <a:ext cx="548640" cy="246888"/>
            <a:chOff x="0" y="0"/>
            <a:chExt cx="731520" cy="32918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31520" cy="329184"/>
            </a:xfrm>
            <a:custGeom>
              <a:avLst/>
              <a:gdLst/>
              <a:ahLst/>
              <a:cxnLst/>
              <a:rect r="r" b="b" t="t" l="l"/>
              <a:pathLst>
                <a:path h="329184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736" t="0" r="-7736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731520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5758B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5 / 7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069848" y="2359152"/>
            <a:ext cx="1618488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172033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จาก Scenario ที่ Rider ยกเลิกงานสูงถึง 25% ในช่วง Rush Hour: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172033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• Requirement: ออกแบบฟีเจอร์ Dynamic Incentive (โบนัสพิเศษรายพื้นที่) เพื่อดึงดูด Rider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49643" y="5133022"/>
            <a:ext cx="16342995" cy="4368927"/>
            <a:chOff x="0" y="0"/>
            <a:chExt cx="21790660" cy="582523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790659" cy="5825236"/>
            </a:xfrm>
            <a:custGeom>
              <a:avLst/>
              <a:gdLst/>
              <a:ahLst/>
              <a:cxnLst/>
              <a:rect r="r" b="b" t="t" l="l"/>
              <a:pathLst>
                <a:path h="5825236" w="21790659">
                  <a:moveTo>
                    <a:pt x="0" y="220472"/>
                  </a:moveTo>
                  <a:cubicBezTo>
                    <a:pt x="0" y="98679"/>
                    <a:pt x="98679" y="0"/>
                    <a:pt x="220472" y="0"/>
                  </a:cubicBezTo>
                  <a:lnTo>
                    <a:pt x="21570187" y="0"/>
                  </a:lnTo>
                  <a:cubicBezTo>
                    <a:pt x="21691980" y="0"/>
                    <a:pt x="21790659" y="98679"/>
                    <a:pt x="21790659" y="220472"/>
                  </a:cubicBezTo>
                  <a:lnTo>
                    <a:pt x="21790659" y="5604764"/>
                  </a:lnTo>
                  <a:cubicBezTo>
                    <a:pt x="21790659" y="5726557"/>
                    <a:pt x="21691980" y="5825236"/>
                    <a:pt x="21570187" y="5825236"/>
                  </a:cubicBezTo>
                  <a:lnTo>
                    <a:pt x="220472" y="5825236"/>
                  </a:lnTo>
                  <a:cubicBezTo>
                    <a:pt x="98679" y="5825236"/>
                    <a:pt x="0" y="5726557"/>
                    <a:pt x="0" y="5604764"/>
                  </a:cubicBezTo>
                  <a:close/>
                </a:path>
              </a:pathLst>
            </a:custGeom>
            <a:solidFill>
              <a:srgbClr val="FFFFFF"/>
            </a:solidFill>
            <a:ln w="20955" cap="sq">
              <a:solidFill>
                <a:srgbClr val="D8E0EA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303020" y="5390388"/>
            <a:ext cx="3291840" cy="301752"/>
            <a:chOff x="0" y="0"/>
            <a:chExt cx="4389120" cy="40233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389120" cy="402336"/>
            </a:xfrm>
            <a:custGeom>
              <a:avLst/>
              <a:gdLst/>
              <a:ahLst/>
              <a:cxnLst/>
              <a:rect r="r" b="b" t="t" l="l"/>
              <a:pathLst>
                <a:path h="402336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564" r="0" b="-162564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9525"/>
              <a:ext cx="4389120" cy="3928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65758B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พื้นที่สำหรับใส่คำตอบ</a:t>
              </a:r>
            </a:p>
          </p:txBody>
        </p:sp>
      </p:grpSp>
      <p:sp>
        <p:nvSpPr>
          <p:cNvPr name="AutoShape 26" id="26"/>
          <p:cNvSpPr/>
          <p:nvPr/>
        </p:nvSpPr>
        <p:spPr>
          <a:xfrm rot="2520">
            <a:off x="1311021" y="6071425"/>
            <a:ext cx="15510510" cy="0"/>
          </a:xfrm>
          <a:prstGeom prst="line">
            <a:avLst/>
          </a:prstGeom>
          <a:ln cap="rnd" w="9525">
            <a:solidFill>
              <a:srgbClr val="EEF2F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 rot="2520">
            <a:off x="1311021" y="6647497"/>
            <a:ext cx="15510510" cy="0"/>
          </a:xfrm>
          <a:prstGeom prst="line">
            <a:avLst/>
          </a:prstGeom>
          <a:ln cap="rnd" w="9525">
            <a:solidFill>
              <a:srgbClr val="EEF2F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 rot="2520">
            <a:off x="1311021" y="7223570"/>
            <a:ext cx="15510510" cy="0"/>
          </a:xfrm>
          <a:prstGeom prst="line">
            <a:avLst/>
          </a:prstGeom>
          <a:ln cap="rnd" w="9525">
            <a:solidFill>
              <a:srgbClr val="EEF2F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 rot="2520">
            <a:off x="1311021" y="7799642"/>
            <a:ext cx="15510510" cy="0"/>
          </a:xfrm>
          <a:prstGeom prst="line">
            <a:avLst/>
          </a:prstGeom>
          <a:ln cap="rnd" w="9525">
            <a:solidFill>
              <a:srgbClr val="EEF2F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 rot="2520">
            <a:off x="1311021" y="8375714"/>
            <a:ext cx="15510510" cy="0"/>
          </a:xfrm>
          <a:prstGeom prst="line">
            <a:avLst/>
          </a:prstGeom>
          <a:ln cap="rnd" w="9525">
            <a:solidFill>
              <a:srgbClr val="EEF2F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 rot="2520">
            <a:off x="1311021" y="8951786"/>
            <a:ext cx="15510510" cy="0"/>
          </a:xfrm>
          <a:prstGeom prst="line">
            <a:avLst/>
          </a:prstGeom>
          <a:ln cap="rnd" w="9525">
            <a:solidFill>
              <a:srgbClr val="EEF2F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2" id="32"/>
          <p:cNvSpPr txBox="true"/>
          <p:nvPr/>
        </p:nvSpPr>
        <p:spPr>
          <a:xfrm rot="0">
            <a:off x="1271391" y="6090395"/>
            <a:ext cx="15873609" cy="2457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172033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เมื่อระบบพบว่</a:t>
            </a:r>
            <a:r>
              <a:rPr lang="en-US" sz="2700">
                <a:solidFill>
                  <a:srgbClr val="172033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าในบางพื้นที่มี Rider ยกเลิกงานสูง หรือมีจำนวน Order มากกว่า Rider ที่พร้อมรับงาน ระบบควรเพิ่ม โบนัสพิเศษเฉพาะพื้นที่และช่วงเวลา เพื่อจูงใจให้ Rider รับงานมากขึ้น</a:t>
            </a:r>
          </a:p>
          <a:p>
            <a:pPr algn="l">
              <a:lnSpc>
                <a:spcPts val="3240"/>
              </a:lnSpc>
            </a:pP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172033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ตัวอย่างเช่น ปกติค่าส่ง 50 บาท แต่ช่วง 18:00–20:00 ในพื้นที่อโศกมี Rider ไม่พอ ระบบอาจเพิ่มโบนัสอีก 20–40 บาทต่อเที่ยว</a:t>
            </a:r>
          </a:p>
          <a:p>
            <a:pPr algn="l">
              <a:lnSpc>
                <a:spcPts val="3240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97358"/>
            <a:chOff x="0" y="0"/>
            <a:chExt cx="24408790" cy="2631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63144"/>
            </a:xfrm>
            <a:custGeom>
              <a:avLst/>
              <a:gdLst/>
              <a:ahLst/>
              <a:cxnLst/>
              <a:rect r="r" b="b" t="t" l="l"/>
              <a:pathLst>
                <a:path h="263144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63144"/>
                  </a:lnTo>
                  <a:lnTo>
                    <a:pt x="0" y="263144"/>
                  </a:lnTo>
                  <a:close/>
                </a:path>
              </a:pathLst>
            </a:custGeom>
            <a:solidFill>
              <a:srgbClr val="0EA5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0392" y="521208"/>
            <a:ext cx="9738360" cy="356616"/>
            <a:chOff x="0" y="0"/>
            <a:chExt cx="12984480" cy="4754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984480" cy="475488"/>
            </a:xfrm>
            <a:custGeom>
              <a:avLst/>
              <a:gdLst/>
              <a:ahLst/>
              <a:cxnLst/>
              <a:rect r="r" b="b" t="t" l="l"/>
              <a:pathLst>
                <a:path h="475488" w="12984480">
                  <a:moveTo>
                    <a:pt x="0" y="0"/>
                  </a:moveTo>
                  <a:lnTo>
                    <a:pt x="12984480" y="0"/>
                  </a:lnTo>
                  <a:lnTo>
                    <a:pt x="1298448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2091" r="0" b="-48209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12984480" cy="4659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0EA5E9"/>
                  </a:solidFill>
                  <a:latin typeface="Noto Sans Thai Bold"/>
                  <a:ea typeface="Noto Sans Thai Bold"/>
                  <a:cs typeface="Noto Sans Thai Bold"/>
                  <a:sym typeface="Noto Sans Thai Bold"/>
                </a:rPr>
                <a:t>ส่วนที่ 2 — System Design &amp; Business Logic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841980" y="480060"/>
            <a:ext cx="1577340" cy="411480"/>
            <a:chOff x="0" y="0"/>
            <a:chExt cx="2103120" cy="548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03120" cy="548640"/>
            </a:xfrm>
            <a:custGeom>
              <a:avLst/>
              <a:gdLst/>
              <a:ahLst/>
              <a:cxnLst/>
              <a:rect r="r" b="b" t="t" l="l"/>
              <a:pathLst>
                <a:path h="548640" w="2103120">
                  <a:moveTo>
                    <a:pt x="0" y="0"/>
                  </a:moveTo>
                  <a:lnTo>
                    <a:pt x="2103120" y="0"/>
                  </a:lnTo>
                  <a:lnTo>
                    <a:pt x="2103120" y="548640"/>
                  </a:lnTo>
                  <a:lnTo>
                    <a:pt x="0" y="54864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2103120" cy="5391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0EA5E9"/>
                  </a:solidFill>
                  <a:latin typeface="Noto Sans Thai Bold"/>
                  <a:ea typeface="Noto Sans Thai Bold"/>
                  <a:cs typeface="Noto Sans Thai Bold"/>
                  <a:sym typeface="Noto Sans Thai Bold"/>
                </a:rPr>
                <a:t>15 คะแนน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22960" y="1069848"/>
            <a:ext cx="1261872" cy="754380"/>
            <a:chOff x="0" y="0"/>
            <a:chExt cx="1682496" cy="10058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82496" cy="1005840"/>
            </a:xfrm>
            <a:custGeom>
              <a:avLst/>
              <a:gdLst/>
              <a:ahLst/>
              <a:cxnLst/>
              <a:rect r="r" b="b" t="t" l="l"/>
              <a:pathLst>
                <a:path h="1005840" w="1682496">
                  <a:moveTo>
                    <a:pt x="0" y="0"/>
                  </a:moveTo>
                  <a:lnTo>
                    <a:pt x="1682496" y="0"/>
                  </a:lnTo>
                  <a:lnTo>
                    <a:pt x="1682496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703" t="0" r="-26703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1682496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0EA5E9"/>
                  </a:solidFill>
                  <a:latin typeface="Arimo Bold"/>
                  <a:ea typeface="Arimo Bold"/>
                  <a:cs typeface="Arimo Bold"/>
                  <a:sym typeface="Arimo Bold"/>
                </a:rPr>
                <a:t>05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125980" y="1069848"/>
            <a:ext cx="14676120" cy="658368"/>
            <a:chOff x="0" y="0"/>
            <a:chExt cx="19568160" cy="87782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568161" cy="877824"/>
            </a:xfrm>
            <a:custGeom>
              <a:avLst/>
              <a:gdLst/>
              <a:ahLst/>
              <a:cxnLst/>
              <a:rect r="r" b="b" t="t" l="l"/>
              <a:pathLst>
                <a:path h="877824" w="19568161">
                  <a:moveTo>
                    <a:pt x="0" y="0"/>
                  </a:moveTo>
                  <a:lnTo>
                    <a:pt x="19568161" y="0"/>
                  </a:lnTo>
                  <a:lnTo>
                    <a:pt x="19568161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4353" r="0" b="-384353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19568160" cy="8873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410"/>
                </a:lnSpc>
              </a:pPr>
              <a:r>
                <a:rPr lang="en-US" sz="3675" b="true">
                  <a:solidFill>
                    <a:srgbClr val="172033"/>
                  </a:solidFill>
                  <a:latin typeface="Noto Sans Thai Bold"/>
                  <a:ea typeface="Noto Sans Thai Bold"/>
                  <a:cs typeface="Noto Sans Thai Bold"/>
                  <a:sym typeface="Noto Sans Thai Bold"/>
                </a:rPr>
                <a:t>Rush Hour Cancellation Crisis</a:t>
              </a:r>
            </a:p>
          </p:txBody>
        </p:sp>
      </p:grpSp>
      <p:sp>
        <p:nvSpPr>
          <p:cNvPr name="AutoShape 16" id="16"/>
          <p:cNvSpPr/>
          <p:nvPr/>
        </p:nvSpPr>
        <p:spPr>
          <a:xfrm rot="3960">
            <a:off x="840857" y="1942909"/>
            <a:ext cx="16615420" cy="0"/>
          </a:xfrm>
          <a:prstGeom prst="line">
            <a:avLst/>
          </a:prstGeom>
          <a:ln cap="rnd" w="9525">
            <a:solidFill>
              <a:srgbClr val="D8E0E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16870680" y="9710928"/>
            <a:ext cx="548640" cy="246888"/>
            <a:chOff x="0" y="0"/>
            <a:chExt cx="731520" cy="32918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31520" cy="329184"/>
            </a:xfrm>
            <a:custGeom>
              <a:avLst/>
              <a:gdLst/>
              <a:ahLst/>
              <a:cxnLst/>
              <a:rect r="r" b="b" t="t" l="l"/>
              <a:pathLst>
                <a:path h="329184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736" t="0" r="-7736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731520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5758B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5 / 7</a:t>
              </a:r>
            </a:p>
          </p:txBody>
        </p:sp>
      </p:grpSp>
      <p:graphicFrame>
        <p:nvGraphicFramePr>
          <p:cNvPr name="Object 20" id="20"/>
          <p:cNvGraphicFramePr/>
          <p:nvPr/>
        </p:nvGraphicFramePr>
        <p:xfrm>
          <a:off x="1311038" y="4121277"/>
          <a:ext cx="7543800" cy="7543800"/>
        </p:xfrm>
        <a:graphic>
          <a:graphicData uri="http://schemas.openxmlformats.org/presentationml/2006/ole">
            <p:oleObj imgW="9042400" imgH="90424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21" id="21"/>
          <p:cNvSpPr txBox="true"/>
          <p:nvPr/>
        </p:nvSpPr>
        <p:spPr>
          <a:xfrm rot="0">
            <a:off x="1069848" y="2359152"/>
            <a:ext cx="16184880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172033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จาก Scenario ที่ Rider ยกเลิกงานสูงถึง 25% ในช่วง Rush Hour: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172033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• Data Modeling: ออกแบบ Schema ที่เก็บประวัติการยกเลิกงาน (Cancellation Log) เพื่อวิเคราะห์พฤติกรรมทุจริต (Fraud Detection)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923692" y="4171143"/>
            <a:ext cx="11192602" cy="2057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72033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Can</a:t>
            </a:r>
            <a:r>
              <a:rPr lang="en-US" sz="2300">
                <a:solidFill>
                  <a:srgbClr val="172033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cellation Log — เก็บประวัติการยกเลิกงาน</a:t>
            </a:r>
          </a:p>
          <a:p>
            <a:pPr algn="l">
              <a:lnSpc>
                <a:spcPts val="2760"/>
              </a:lnSpc>
            </a:pPr>
          </a:p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72033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ควรมีตารางสำหรับบันทึกทุกครั้งที่ Rider ยกเลิกงาน เพื่อใช้วิเคราะห์ว่าการยกเลิกนั้นเป็นพฤติกรรมปกติหรืออาจเป็นการทุจริต</a:t>
            </a:r>
          </a:p>
          <a:p>
            <a:pPr algn="l">
              <a:lnSpc>
                <a:spcPts val="2760"/>
              </a:lnSpc>
            </a:pPr>
          </a:p>
          <a:p>
            <a:pPr algn="l">
              <a:lnSpc>
                <a:spcPts val="2760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1124989" y="3745039"/>
            <a:ext cx="1603028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  <a:spcBef>
                <a:spcPct val="0"/>
              </a:spcBef>
            </a:pPr>
            <a:r>
              <a:rPr lang="en-US" b="true" sz="1575">
                <a:solidFill>
                  <a:srgbClr val="FF5757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ตัวอย่าง schema 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97358"/>
            <a:chOff x="0" y="0"/>
            <a:chExt cx="24408790" cy="2631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63144"/>
            </a:xfrm>
            <a:custGeom>
              <a:avLst/>
              <a:gdLst/>
              <a:ahLst/>
              <a:cxnLst/>
              <a:rect r="r" b="b" t="t" l="l"/>
              <a:pathLst>
                <a:path h="263144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63144"/>
                  </a:lnTo>
                  <a:lnTo>
                    <a:pt x="0" y="263144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0392" y="521208"/>
            <a:ext cx="9738360" cy="356616"/>
            <a:chOff x="0" y="0"/>
            <a:chExt cx="12984480" cy="4754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984480" cy="475488"/>
            </a:xfrm>
            <a:custGeom>
              <a:avLst/>
              <a:gdLst/>
              <a:ahLst/>
              <a:cxnLst/>
              <a:rect r="r" b="b" t="t" l="l"/>
              <a:pathLst>
                <a:path h="475488" w="12984480">
                  <a:moveTo>
                    <a:pt x="0" y="0"/>
                  </a:moveTo>
                  <a:lnTo>
                    <a:pt x="12984480" y="0"/>
                  </a:lnTo>
                  <a:lnTo>
                    <a:pt x="1298448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2091" r="0" b="-48209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12984480" cy="4659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F59E0B"/>
                  </a:solidFill>
                  <a:latin typeface="Noto Sans Thai Bold"/>
                  <a:ea typeface="Noto Sans Thai Bold"/>
                  <a:cs typeface="Noto Sans Thai Bold"/>
                  <a:sym typeface="Noto Sans Thai Bold"/>
                </a:rPr>
                <a:t>ส่วนที่ 3 — AI Implementation &amp; Guardrails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841980" y="480060"/>
            <a:ext cx="1577340" cy="411480"/>
            <a:chOff x="0" y="0"/>
            <a:chExt cx="2103120" cy="548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03120" cy="548640"/>
            </a:xfrm>
            <a:custGeom>
              <a:avLst/>
              <a:gdLst/>
              <a:ahLst/>
              <a:cxnLst/>
              <a:rect r="r" b="b" t="t" l="l"/>
              <a:pathLst>
                <a:path h="548640" w="2103120">
                  <a:moveTo>
                    <a:pt x="0" y="0"/>
                  </a:moveTo>
                  <a:lnTo>
                    <a:pt x="2103120" y="0"/>
                  </a:lnTo>
                  <a:lnTo>
                    <a:pt x="2103120" y="548640"/>
                  </a:lnTo>
                  <a:lnTo>
                    <a:pt x="0" y="54864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2103120" cy="5391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F59E0B"/>
                  </a:solidFill>
                  <a:latin typeface="Noto Sans Thai Bold"/>
                  <a:ea typeface="Noto Sans Thai Bold"/>
                  <a:cs typeface="Noto Sans Thai Bold"/>
                  <a:sym typeface="Noto Sans Thai Bold"/>
                </a:rPr>
                <a:t>10 คะแนน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22960" y="1069848"/>
            <a:ext cx="1261872" cy="754380"/>
            <a:chOff x="0" y="0"/>
            <a:chExt cx="1682496" cy="10058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82496" cy="1005840"/>
            </a:xfrm>
            <a:custGeom>
              <a:avLst/>
              <a:gdLst/>
              <a:ahLst/>
              <a:cxnLst/>
              <a:rect r="r" b="b" t="t" l="l"/>
              <a:pathLst>
                <a:path h="1005840" w="1682496">
                  <a:moveTo>
                    <a:pt x="0" y="0"/>
                  </a:moveTo>
                  <a:lnTo>
                    <a:pt x="1682496" y="0"/>
                  </a:lnTo>
                  <a:lnTo>
                    <a:pt x="1682496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703" t="0" r="-26703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1682496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F59E0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06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125980" y="1069848"/>
            <a:ext cx="14676120" cy="658368"/>
            <a:chOff x="0" y="0"/>
            <a:chExt cx="19568160" cy="87782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568161" cy="877824"/>
            </a:xfrm>
            <a:custGeom>
              <a:avLst/>
              <a:gdLst/>
              <a:ahLst/>
              <a:cxnLst/>
              <a:rect r="r" b="b" t="t" l="l"/>
              <a:pathLst>
                <a:path h="877824" w="19568161">
                  <a:moveTo>
                    <a:pt x="0" y="0"/>
                  </a:moveTo>
                  <a:lnTo>
                    <a:pt x="19568161" y="0"/>
                  </a:lnTo>
                  <a:lnTo>
                    <a:pt x="19568161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4353" r="0" b="-384353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19568160" cy="8873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410"/>
                </a:lnSpc>
              </a:pPr>
              <a:r>
                <a:rPr lang="en-US" sz="3675" b="true">
                  <a:solidFill>
                    <a:srgbClr val="172033"/>
                  </a:solidFill>
                  <a:latin typeface="Noto Sans Thai Bold"/>
                  <a:ea typeface="Noto Sans Thai Bold"/>
                  <a:cs typeface="Noto Sans Thai Bold"/>
                  <a:sym typeface="Noto Sans Thai Bold"/>
                </a:rPr>
                <a:t>AI-Powered Delivery Time Predictor</a:t>
              </a:r>
            </a:p>
          </p:txBody>
        </p:sp>
      </p:grpSp>
      <p:sp>
        <p:nvSpPr>
          <p:cNvPr name="AutoShape 16" id="16"/>
          <p:cNvSpPr/>
          <p:nvPr/>
        </p:nvSpPr>
        <p:spPr>
          <a:xfrm rot="3960">
            <a:off x="840857" y="1942909"/>
            <a:ext cx="16615420" cy="0"/>
          </a:xfrm>
          <a:prstGeom prst="line">
            <a:avLst/>
          </a:prstGeom>
          <a:ln cap="rnd" w="9525">
            <a:solidFill>
              <a:srgbClr val="D8E0E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16870680" y="9710928"/>
            <a:ext cx="548640" cy="246888"/>
            <a:chOff x="0" y="0"/>
            <a:chExt cx="731520" cy="32918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31520" cy="329184"/>
            </a:xfrm>
            <a:custGeom>
              <a:avLst/>
              <a:gdLst/>
              <a:ahLst/>
              <a:cxnLst/>
              <a:rect r="r" b="b" t="t" l="l"/>
              <a:pathLst>
                <a:path h="329184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736" t="0" r="-7736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731520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5758B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6 / 7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069848" y="2359152"/>
            <a:ext cx="16184880" cy="2125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172033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เขียน Prompt เพื่อให้ AI คำนวณ ETA โดยใช้ข้อมูล: ระยะทาง, สภาพอากาศ (ฝนตก), และเวลาเตรียมอาหารของร้าน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172033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พร้อมระบุวิธีจัดการหาก AI ทำนายเวลาผิดพลาดอย่างรุนแรง เช่น บอกว่าถึงใน 5 นาที ทั้งที่ฝนตกหนักและร้านอยู่ไกล 10 กม.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28700" y="3705079"/>
            <a:ext cx="16342995" cy="5796870"/>
            <a:chOff x="0" y="0"/>
            <a:chExt cx="21790660" cy="77291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790659" cy="7729161"/>
            </a:xfrm>
            <a:custGeom>
              <a:avLst/>
              <a:gdLst/>
              <a:ahLst/>
              <a:cxnLst/>
              <a:rect r="r" b="b" t="t" l="l"/>
              <a:pathLst>
                <a:path h="7729161" w="21790659">
                  <a:moveTo>
                    <a:pt x="0" y="292531"/>
                  </a:moveTo>
                  <a:cubicBezTo>
                    <a:pt x="0" y="130931"/>
                    <a:pt x="98679" y="0"/>
                    <a:pt x="220472" y="0"/>
                  </a:cubicBezTo>
                  <a:lnTo>
                    <a:pt x="21570187" y="0"/>
                  </a:lnTo>
                  <a:cubicBezTo>
                    <a:pt x="21691980" y="0"/>
                    <a:pt x="21790659" y="130931"/>
                    <a:pt x="21790659" y="292531"/>
                  </a:cubicBezTo>
                  <a:lnTo>
                    <a:pt x="21790659" y="7436629"/>
                  </a:lnTo>
                  <a:cubicBezTo>
                    <a:pt x="21790659" y="7598229"/>
                    <a:pt x="21691980" y="7729161"/>
                    <a:pt x="21570187" y="7729161"/>
                  </a:cubicBezTo>
                  <a:lnTo>
                    <a:pt x="220472" y="7729161"/>
                  </a:lnTo>
                  <a:cubicBezTo>
                    <a:pt x="98679" y="7729160"/>
                    <a:pt x="0" y="7598229"/>
                    <a:pt x="0" y="7436629"/>
                  </a:cubicBezTo>
                  <a:close/>
                </a:path>
              </a:pathLst>
            </a:custGeom>
            <a:solidFill>
              <a:srgbClr val="FFFFFF"/>
            </a:solidFill>
            <a:ln w="20955" cap="sq">
              <a:solidFill>
                <a:srgbClr val="D8E0EA"/>
              </a:solidFill>
              <a:prstDash val="solid"/>
              <a:miter/>
            </a:ln>
          </p:spPr>
        </p:sp>
      </p:grpSp>
      <p:sp>
        <p:nvSpPr>
          <p:cNvPr name="AutoShape 23" id="23"/>
          <p:cNvSpPr/>
          <p:nvPr/>
        </p:nvSpPr>
        <p:spPr>
          <a:xfrm rot="2520">
            <a:off x="1311021" y="6071425"/>
            <a:ext cx="15510510" cy="0"/>
          </a:xfrm>
          <a:prstGeom prst="line">
            <a:avLst/>
          </a:prstGeom>
          <a:ln cap="rnd" w="9525">
            <a:solidFill>
              <a:srgbClr val="EEF2F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 rot="2520">
            <a:off x="1311021" y="6647497"/>
            <a:ext cx="15510510" cy="0"/>
          </a:xfrm>
          <a:prstGeom prst="line">
            <a:avLst/>
          </a:prstGeom>
          <a:ln cap="rnd" w="9525">
            <a:solidFill>
              <a:srgbClr val="EEF2F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 rot="2520">
            <a:off x="1311021" y="7223570"/>
            <a:ext cx="15510510" cy="0"/>
          </a:xfrm>
          <a:prstGeom prst="line">
            <a:avLst/>
          </a:prstGeom>
          <a:ln cap="rnd" w="9525">
            <a:solidFill>
              <a:srgbClr val="EEF2F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 rot="2520">
            <a:off x="1311021" y="7799642"/>
            <a:ext cx="15510510" cy="0"/>
          </a:xfrm>
          <a:prstGeom prst="line">
            <a:avLst/>
          </a:prstGeom>
          <a:ln cap="rnd" w="9525">
            <a:solidFill>
              <a:srgbClr val="EEF2F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 rot="2520">
            <a:off x="1311021" y="8375714"/>
            <a:ext cx="15510510" cy="0"/>
          </a:xfrm>
          <a:prstGeom prst="line">
            <a:avLst/>
          </a:prstGeom>
          <a:ln cap="rnd" w="9525">
            <a:solidFill>
              <a:srgbClr val="EEF2F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 rot="2520">
            <a:off x="1311021" y="8951786"/>
            <a:ext cx="15510510" cy="0"/>
          </a:xfrm>
          <a:prstGeom prst="line">
            <a:avLst/>
          </a:prstGeom>
          <a:ln cap="rnd" w="9525">
            <a:solidFill>
              <a:srgbClr val="EEF2F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9" id="29"/>
          <p:cNvSpPr txBox="true"/>
          <p:nvPr/>
        </p:nvSpPr>
        <p:spPr>
          <a:xfrm rot="0">
            <a:off x="1453896" y="3919690"/>
            <a:ext cx="11615790" cy="5444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5"/>
              </a:lnSpc>
            </a:pPr>
            <a:r>
              <a:rPr lang="en-US" sz="1937">
                <a:solidFill>
                  <a:srgbClr val="172033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กำห</a:t>
            </a:r>
            <a:r>
              <a:rPr lang="en-US" sz="1937">
                <a:solidFill>
                  <a:srgbClr val="172033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นดให้คุณเป็นระบบคำนวณเวลาจัดส่งอาหาร (ETA) </a:t>
            </a:r>
          </a:p>
          <a:p>
            <a:pPr algn="l">
              <a:lnSpc>
                <a:spcPts val="2325"/>
              </a:lnSpc>
            </a:pPr>
          </a:p>
          <a:p>
            <a:pPr algn="l">
              <a:lnSpc>
                <a:spcPts val="2325"/>
              </a:lnSpc>
            </a:pPr>
            <a:r>
              <a:rPr lang="en-US" sz="1937">
                <a:solidFill>
                  <a:srgbClr val="172033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ข้อมูลที่ได้รับ:</a:t>
            </a:r>
          </a:p>
          <a:p>
            <a:pPr algn="l">
              <a:lnSpc>
                <a:spcPts val="2325"/>
              </a:lnSpc>
            </a:pPr>
          </a:p>
          <a:p>
            <a:pPr algn="l" marL="418365" indent="-209183" lvl="1">
              <a:lnSpc>
                <a:spcPts val="2325"/>
              </a:lnSpc>
              <a:buFont typeface="Arial"/>
              <a:buChar char="•"/>
            </a:pPr>
            <a:r>
              <a:rPr lang="en-US" sz="1937">
                <a:solidFill>
                  <a:srgbClr val="172033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ระยะทางจากร้านถึงลูกค้า(km)</a:t>
            </a:r>
          </a:p>
          <a:p>
            <a:pPr algn="l" marL="418365" indent="-209183" lvl="1">
              <a:lnSpc>
                <a:spcPts val="2325"/>
              </a:lnSpc>
              <a:buFont typeface="Arial"/>
              <a:buChar char="•"/>
            </a:pPr>
            <a:r>
              <a:rPr lang="en-US" sz="1937">
                <a:solidFill>
                  <a:srgbClr val="172033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สภาพอากาศ</a:t>
            </a:r>
          </a:p>
          <a:p>
            <a:pPr algn="l" marL="418365" indent="-209183" lvl="1">
              <a:lnSpc>
                <a:spcPts val="2325"/>
              </a:lnSpc>
              <a:buFont typeface="Arial"/>
              <a:buChar char="•"/>
            </a:pPr>
            <a:r>
              <a:rPr lang="en-US" sz="1937">
                <a:solidFill>
                  <a:srgbClr val="172033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เวลาเตรียมอาหารของร้าน(mm)</a:t>
            </a:r>
          </a:p>
          <a:p>
            <a:pPr algn="l">
              <a:lnSpc>
                <a:spcPts val="2325"/>
              </a:lnSpc>
            </a:pPr>
          </a:p>
          <a:p>
            <a:pPr algn="l">
              <a:lnSpc>
                <a:spcPts val="2325"/>
              </a:lnSpc>
            </a:pPr>
            <a:r>
              <a:rPr lang="en-US" sz="1937">
                <a:solidFill>
                  <a:srgbClr val="172033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ให้ประเมินเวลาที่ลูกค้าจะได้รับอาหาร โดยพิจารณาว่า:</a:t>
            </a:r>
          </a:p>
          <a:p>
            <a:pPr algn="l">
              <a:lnSpc>
                <a:spcPts val="2325"/>
              </a:lnSpc>
            </a:pPr>
          </a:p>
          <a:p>
            <a:pPr algn="l" marL="418365" indent="-209183" lvl="1">
              <a:lnSpc>
                <a:spcPts val="2325"/>
              </a:lnSpc>
              <a:buFont typeface="Arial"/>
              <a:buChar char="•"/>
            </a:pPr>
            <a:r>
              <a:rPr lang="en-US" sz="1937">
                <a:solidFill>
                  <a:srgbClr val="172033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ระยะทางที่มากขึ้นต้องใช้เวลาเดินทางมากขึ้น</a:t>
            </a:r>
          </a:p>
          <a:p>
            <a:pPr algn="l" marL="418365" indent="-209183" lvl="1">
              <a:lnSpc>
                <a:spcPts val="2325"/>
              </a:lnSpc>
              <a:buFont typeface="Arial"/>
              <a:buChar char="•"/>
            </a:pPr>
            <a:r>
              <a:rPr lang="en-US" sz="1937">
                <a:solidFill>
                  <a:srgbClr val="172033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หากฝนตก ให้เพิ่มเวลาเดินทางเพื่อความปลอดภัย</a:t>
            </a:r>
          </a:p>
          <a:p>
            <a:pPr algn="l" marL="418365" indent="-209183" lvl="1">
              <a:lnSpc>
                <a:spcPts val="2325"/>
              </a:lnSpc>
              <a:buFont typeface="Arial"/>
              <a:buChar char="•"/>
            </a:pPr>
            <a:r>
              <a:rPr lang="en-US" sz="1937">
                <a:solidFill>
                  <a:srgbClr val="172033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ต้องรวมเวลาเตรียมอาหารของร้านด้วย</a:t>
            </a:r>
          </a:p>
          <a:p>
            <a:pPr algn="l" marL="418365" indent="-209183" lvl="1">
              <a:lnSpc>
                <a:spcPts val="2325"/>
              </a:lnSpc>
              <a:buFont typeface="Arial"/>
              <a:buChar char="•"/>
            </a:pPr>
            <a:r>
              <a:rPr lang="en-US" sz="1937">
                <a:solidFill>
                  <a:srgbClr val="172033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ห้ามให้เวลาที่ต่ำจนไม่สมเหตุสมผลเมื่อเทียบกับระยะทางและสภาพอากาศ</a:t>
            </a:r>
          </a:p>
          <a:p>
            <a:pPr algn="l">
              <a:lnSpc>
                <a:spcPts val="2325"/>
              </a:lnSpc>
            </a:pPr>
          </a:p>
          <a:p>
            <a:pPr algn="l">
              <a:lnSpc>
                <a:spcPts val="2325"/>
              </a:lnSpc>
            </a:pPr>
            <a:r>
              <a:rPr lang="en-US" sz="1937">
                <a:solidFill>
                  <a:srgbClr val="172033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ตอบผลลัพธ์เป็น:</a:t>
            </a:r>
          </a:p>
          <a:p>
            <a:pPr algn="l">
              <a:lnSpc>
                <a:spcPts val="2325"/>
              </a:lnSpc>
            </a:pPr>
          </a:p>
          <a:p>
            <a:pPr algn="l">
              <a:lnSpc>
                <a:spcPts val="2325"/>
              </a:lnSpc>
            </a:pPr>
            <a:r>
              <a:rPr lang="en-US" sz="1937">
                <a:solidFill>
                  <a:srgbClr val="172033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* ETA: จำนวนโดยประมาณกี่นาที</a:t>
            </a:r>
          </a:p>
          <a:p>
            <a:pPr algn="l">
              <a:lnSpc>
                <a:spcPts val="2325"/>
              </a:lnSpc>
            </a:pPr>
            <a:r>
              <a:rPr lang="en-US" sz="1937">
                <a:solidFill>
                  <a:srgbClr val="172033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* เหตุผลสั้น ๆ ที่ใช้ในการคำนวณ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97358"/>
            <a:chOff x="0" y="0"/>
            <a:chExt cx="24408790" cy="2631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63144"/>
            </a:xfrm>
            <a:custGeom>
              <a:avLst/>
              <a:gdLst/>
              <a:ahLst/>
              <a:cxnLst/>
              <a:rect r="r" b="b" t="t" l="l"/>
              <a:pathLst>
                <a:path h="263144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63144"/>
                  </a:lnTo>
                  <a:lnTo>
                    <a:pt x="0" y="263144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0392" y="521208"/>
            <a:ext cx="9738360" cy="356616"/>
            <a:chOff x="0" y="0"/>
            <a:chExt cx="12984480" cy="4754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984480" cy="475488"/>
            </a:xfrm>
            <a:custGeom>
              <a:avLst/>
              <a:gdLst/>
              <a:ahLst/>
              <a:cxnLst/>
              <a:rect r="r" b="b" t="t" l="l"/>
              <a:pathLst>
                <a:path h="475488" w="12984480">
                  <a:moveTo>
                    <a:pt x="0" y="0"/>
                  </a:moveTo>
                  <a:lnTo>
                    <a:pt x="12984480" y="0"/>
                  </a:lnTo>
                  <a:lnTo>
                    <a:pt x="1298448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2091" r="0" b="-48209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12984480" cy="4659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F59E0B"/>
                  </a:solidFill>
                  <a:latin typeface="Noto Sans Thai Bold"/>
                  <a:ea typeface="Noto Sans Thai Bold"/>
                  <a:cs typeface="Noto Sans Thai Bold"/>
                  <a:sym typeface="Noto Sans Thai Bold"/>
                </a:rPr>
                <a:t>ส่วนที่ 3 — AI Implementation &amp; Guardrails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841980" y="480060"/>
            <a:ext cx="1577340" cy="411480"/>
            <a:chOff x="0" y="0"/>
            <a:chExt cx="2103120" cy="548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03120" cy="548640"/>
            </a:xfrm>
            <a:custGeom>
              <a:avLst/>
              <a:gdLst/>
              <a:ahLst/>
              <a:cxnLst/>
              <a:rect r="r" b="b" t="t" l="l"/>
              <a:pathLst>
                <a:path h="548640" w="2103120">
                  <a:moveTo>
                    <a:pt x="0" y="0"/>
                  </a:moveTo>
                  <a:lnTo>
                    <a:pt x="2103120" y="0"/>
                  </a:lnTo>
                  <a:lnTo>
                    <a:pt x="2103120" y="548640"/>
                  </a:lnTo>
                  <a:lnTo>
                    <a:pt x="0" y="54864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2103120" cy="5391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F59E0B"/>
                  </a:solidFill>
                  <a:latin typeface="Noto Sans Thai Bold"/>
                  <a:ea typeface="Noto Sans Thai Bold"/>
                  <a:cs typeface="Noto Sans Thai Bold"/>
                  <a:sym typeface="Noto Sans Thai Bold"/>
                </a:rPr>
                <a:t>20 คะแนน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22960" y="1069848"/>
            <a:ext cx="1261872" cy="754380"/>
            <a:chOff x="0" y="0"/>
            <a:chExt cx="1682496" cy="10058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82496" cy="1005840"/>
            </a:xfrm>
            <a:custGeom>
              <a:avLst/>
              <a:gdLst/>
              <a:ahLst/>
              <a:cxnLst/>
              <a:rect r="r" b="b" t="t" l="l"/>
              <a:pathLst>
                <a:path h="1005840" w="1682496">
                  <a:moveTo>
                    <a:pt x="0" y="0"/>
                  </a:moveTo>
                  <a:lnTo>
                    <a:pt x="1682496" y="0"/>
                  </a:lnTo>
                  <a:lnTo>
                    <a:pt x="1682496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703" t="0" r="-26703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1682496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F59E0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07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125980" y="1069848"/>
            <a:ext cx="14676120" cy="658368"/>
            <a:chOff x="0" y="0"/>
            <a:chExt cx="19568160" cy="87782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568161" cy="877824"/>
            </a:xfrm>
            <a:custGeom>
              <a:avLst/>
              <a:gdLst/>
              <a:ahLst/>
              <a:cxnLst/>
              <a:rect r="r" b="b" t="t" l="l"/>
              <a:pathLst>
                <a:path h="877824" w="19568161">
                  <a:moveTo>
                    <a:pt x="0" y="0"/>
                  </a:moveTo>
                  <a:lnTo>
                    <a:pt x="19568161" y="0"/>
                  </a:lnTo>
                  <a:lnTo>
                    <a:pt x="19568161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4353" r="0" b="-384353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19568160" cy="8873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410"/>
                </a:lnSpc>
              </a:pPr>
              <a:r>
                <a:rPr lang="en-US" sz="3675" b="true">
                  <a:solidFill>
                    <a:srgbClr val="172033"/>
                  </a:solidFill>
                  <a:latin typeface="Noto Sans Thai Bold"/>
                  <a:ea typeface="Noto Sans Thai Bold"/>
                  <a:cs typeface="Noto Sans Thai Bold"/>
                  <a:sym typeface="Noto Sans Thai Bold"/>
                </a:rPr>
                <a:t>Dynamic Pricing Engine — Surge Pricing</a:t>
              </a:r>
            </a:p>
          </p:txBody>
        </p:sp>
      </p:grpSp>
      <p:sp>
        <p:nvSpPr>
          <p:cNvPr name="AutoShape 16" id="16"/>
          <p:cNvSpPr/>
          <p:nvPr/>
        </p:nvSpPr>
        <p:spPr>
          <a:xfrm rot="3960">
            <a:off x="840857" y="1942909"/>
            <a:ext cx="16615420" cy="0"/>
          </a:xfrm>
          <a:prstGeom prst="line">
            <a:avLst/>
          </a:prstGeom>
          <a:ln cap="rnd" w="9525">
            <a:solidFill>
              <a:srgbClr val="D8E0E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16870680" y="9710928"/>
            <a:ext cx="548640" cy="246888"/>
            <a:chOff x="0" y="0"/>
            <a:chExt cx="731520" cy="32918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31520" cy="329184"/>
            </a:xfrm>
            <a:custGeom>
              <a:avLst/>
              <a:gdLst/>
              <a:ahLst/>
              <a:cxnLst/>
              <a:rect r="r" b="b" t="t" l="l"/>
              <a:pathLst>
                <a:path h="329184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736" t="0" r="-7736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731520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5758B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7 / 7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9464040" y="2142979"/>
            <a:ext cx="7417234" cy="7774472"/>
          </a:xfrm>
          <a:custGeom>
            <a:avLst/>
            <a:gdLst/>
            <a:ahLst/>
            <a:cxnLst/>
            <a:rect r="r" b="b" t="t" l="l"/>
            <a:pathLst>
              <a:path h="7774472" w="7417234">
                <a:moveTo>
                  <a:pt x="0" y="0"/>
                </a:moveTo>
                <a:lnTo>
                  <a:pt x="7417234" y="0"/>
                </a:lnTo>
                <a:lnTo>
                  <a:pt x="7417234" y="7774473"/>
                </a:lnTo>
                <a:lnTo>
                  <a:pt x="0" y="77744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069848" y="2359152"/>
            <a:ext cx="8074152" cy="163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172033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ออกแบบฟีเจอร์ปรับค่าส่งตาม Demand/Supply: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172033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• Architecture: เขียน Diagram แสดงการไหลของข้อมูลจาก Rider App ไปยัง AI Model และสะท้อนกลับไปที่ Customer App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69619" y="5211065"/>
            <a:ext cx="8074152" cy="409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172033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ระบบจะนำข้</a:t>
            </a:r>
            <a:r>
              <a:rPr lang="en-US" sz="2700">
                <a:solidFill>
                  <a:srgbClr val="172033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อมูล จำนวน Order ของลูกค้าและจำนวน Rider ที่พร้อมรับงานในแต่ละพื้นที่ 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172033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ส่งให้ AI วิเคราะห์ Demand และ Supply หากมีลูกค้าสั่งจำนวนมากแต่ Rider มีน้อย 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172033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AI สามารถ</a:t>
            </a:r>
            <a:r>
              <a:rPr lang="en-US" sz="2700" b="true">
                <a:solidFill>
                  <a:srgbClr val="172033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แนะนำให้</a:t>
            </a:r>
            <a:r>
              <a:rPr lang="en-US" sz="2700">
                <a:solidFill>
                  <a:srgbClr val="172033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เพิ่มค่าส่งชั่วคราวเพื่อดึงดูด Rider เข้ามารับงาน 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172033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จากนั้นราคาที่ AI แนะนำ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172033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จะต้องผ่านระบบตรวจสอบก่อน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172033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ส่งไปแสดงใน Customer App</a:t>
            </a:r>
          </a:p>
          <a:p>
            <a:pPr algn="l">
              <a:lnSpc>
                <a:spcPts val="3240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97358"/>
            <a:chOff x="0" y="0"/>
            <a:chExt cx="24408790" cy="2631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63144"/>
            </a:xfrm>
            <a:custGeom>
              <a:avLst/>
              <a:gdLst/>
              <a:ahLst/>
              <a:cxnLst/>
              <a:rect r="r" b="b" t="t" l="l"/>
              <a:pathLst>
                <a:path h="263144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63144"/>
                  </a:lnTo>
                  <a:lnTo>
                    <a:pt x="0" y="263144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0392" y="521208"/>
            <a:ext cx="9738360" cy="356616"/>
            <a:chOff x="0" y="0"/>
            <a:chExt cx="12984480" cy="4754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984480" cy="475488"/>
            </a:xfrm>
            <a:custGeom>
              <a:avLst/>
              <a:gdLst/>
              <a:ahLst/>
              <a:cxnLst/>
              <a:rect r="r" b="b" t="t" l="l"/>
              <a:pathLst>
                <a:path h="475488" w="12984480">
                  <a:moveTo>
                    <a:pt x="0" y="0"/>
                  </a:moveTo>
                  <a:lnTo>
                    <a:pt x="12984480" y="0"/>
                  </a:lnTo>
                  <a:lnTo>
                    <a:pt x="1298448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2091" r="0" b="-48209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12984480" cy="4659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F59E0B"/>
                  </a:solidFill>
                  <a:latin typeface="Noto Sans Thai Bold"/>
                  <a:ea typeface="Noto Sans Thai Bold"/>
                  <a:cs typeface="Noto Sans Thai Bold"/>
                  <a:sym typeface="Noto Sans Thai Bold"/>
                </a:rPr>
                <a:t>ส่วนที่ 3 — AI Implementation &amp; Guardrails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841980" y="480060"/>
            <a:ext cx="1577340" cy="411480"/>
            <a:chOff x="0" y="0"/>
            <a:chExt cx="2103120" cy="548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03120" cy="548640"/>
            </a:xfrm>
            <a:custGeom>
              <a:avLst/>
              <a:gdLst/>
              <a:ahLst/>
              <a:cxnLst/>
              <a:rect r="r" b="b" t="t" l="l"/>
              <a:pathLst>
                <a:path h="548640" w="2103120">
                  <a:moveTo>
                    <a:pt x="0" y="0"/>
                  </a:moveTo>
                  <a:lnTo>
                    <a:pt x="2103120" y="0"/>
                  </a:lnTo>
                  <a:lnTo>
                    <a:pt x="2103120" y="548640"/>
                  </a:lnTo>
                  <a:lnTo>
                    <a:pt x="0" y="54864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2103120" cy="5391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F59E0B"/>
                  </a:solidFill>
                  <a:latin typeface="Noto Sans Thai Bold"/>
                  <a:ea typeface="Noto Sans Thai Bold"/>
                  <a:cs typeface="Noto Sans Thai Bold"/>
                  <a:sym typeface="Noto Sans Thai Bold"/>
                </a:rPr>
                <a:t>20 คะแนน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22960" y="1069848"/>
            <a:ext cx="1261872" cy="754380"/>
            <a:chOff x="0" y="0"/>
            <a:chExt cx="1682496" cy="10058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82496" cy="1005840"/>
            </a:xfrm>
            <a:custGeom>
              <a:avLst/>
              <a:gdLst/>
              <a:ahLst/>
              <a:cxnLst/>
              <a:rect r="r" b="b" t="t" l="l"/>
              <a:pathLst>
                <a:path h="1005840" w="1682496">
                  <a:moveTo>
                    <a:pt x="0" y="0"/>
                  </a:moveTo>
                  <a:lnTo>
                    <a:pt x="1682496" y="0"/>
                  </a:lnTo>
                  <a:lnTo>
                    <a:pt x="1682496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703" t="0" r="-26703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1682496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F59E0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07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125980" y="1069848"/>
            <a:ext cx="14676120" cy="658368"/>
            <a:chOff x="0" y="0"/>
            <a:chExt cx="19568160" cy="87782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568161" cy="877824"/>
            </a:xfrm>
            <a:custGeom>
              <a:avLst/>
              <a:gdLst/>
              <a:ahLst/>
              <a:cxnLst/>
              <a:rect r="r" b="b" t="t" l="l"/>
              <a:pathLst>
                <a:path h="877824" w="19568161">
                  <a:moveTo>
                    <a:pt x="0" y="0"/>
                  </a:moveTo>
                  <a:lnTo>
                    <a:pt x="19568161" y="0"/>
                  </a:lnTo>
                  <a:lnTo>
                    <a:pt x="19568161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4353" r="0" b="-384353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19568160" cy="8873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410"/>
                </a:lnSpc>
              </a:pPr>
              <a:r>
                <a:rPr lang="en-US" sz="3675" b="true">
                  <a:solidFill>
                    <a:srgbClr val="172033"/>
                  </a:solidFill>
                  <a:latin typeface="Noto Sans Thai Bold"/>
                  <a:ea typeface="Noto Sans Thai Bold"/>
                  <a:cs typeface="Noto Sans Thai Bold"/>
                  <a:sym typeface="Noto Sans Thai Bold"/>
                </a:rPr>
                <a:t>Dynamic Pricing Engine — Surge Pricing</a:t>
              </a:r>
            </a:p>
          </p:txBody>
        </p:sp>
      </p:grpSp>
      <p:sp>
        <p:nvSpPr>
          <p:cNvPr name="AutoShape 16" id="16"/>
          <p:cNvSpPr/>
          <p:nvPr/>
        </p:nvSpPr>
        <p:spPr>
          <a:xfrm rot="3960">
            <a:off x="840857" y="1942909"/>
            <a:ext cx="16615420" cy="0"/>
          </a:xfrm>
          <a:prstGeom prst="line">
            <a:avLst/>
          </a:prstGeom>
          <a:ln cap="rnd" w="9525">
            <a:solidFill>
              <a:srgbClr val="D8E0E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16870680" y="9710928"/>
            <a:ext cx="548640" cy="246888"/>
            <a:chOff x="0" y="0"/>
            <a:chExt cx="731520" cy="32918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31520" cy="329184"/>
            </a:xfrm>
            <a:custGeom>
              <a:avLst/>
              <a:gdLst/>
              <a:ahLst/>
              <a:cxnLst/>
              <a:rect r="r" b="b" t="t" l="l"/>
              <a:pathLst>
                <a:path h="329184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736" t="0" r="-7736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731520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5758B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7 / 7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069848" y="2359152"/>
            <a:ext cx="16184880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172033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ออกแบบฟีเจอร์ปรับค่าส่งตาม Demand/Supply: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172033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• Safety &amp; Ethics: หาก AI แนะนำค่าส่งที่แพงเกินไปจนผิดกฎหมายคุ้มครองผู้บริโภค จะวาง Hard-coded Guardrails อย่างไร?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49643" y="5133022"/>
            <a:ext cx="16342995" cy="4368927"/>
            <a:chOff x="0" y="0"/>
            <a:chExt cx="21790660" cy="582523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790659" cy="5825236"/>
            </a:xfrm>
            <a:custGeom>
              <a:avLst/>
              <a:gdLst/>
              <a:ahLst/>
              <a:cxnLst/>
              <a:rect r="r" b="b" t="t" l="l"/>
              <a:pathLst>
                <a:path h="5825236" w="21790659">
                  <a:moveTo>
                    <a:pt x="0" y="220472"/>
                  </a:moveTo>
                  <a:cubicBezTo>
                    <a:pt x="0" y="98679"/>
                    <a:pt x="98679" y="0"/>
                    <a:pt x="220472" y="0"/>
                  </a:cubicBezTo>
                  <a:lnTo>
                    <a:pt x="21570187" y="0"/>
                  </a:lnTo>
                  <a:cubicBezTo>
                    <a:pt x="21691980" y="0"/>
                    <a:pt x="21790659" y="98679"/>
                    <a:pt x="21790659" y="220472"/>
                  </a:cubicBezTo>
                  <a:lnTo>
                    <a:pt x="21790659" y="5604764"/>
                  </a:lnTo>
                  <a:cubicBezTo>
                    <a:pt x="21790659" y="5726557"/>
                    <a:pt x="21691980" y="5825236"/>
                    <a:pt x="21570187" y="5825236"/>
                  </a:cubicBezTo>
                  <a:lnTo>
                    <a:pt x="220472" y="5825236"/>
                  </a:lnTo>
                  <a:cubicBezTo>
                    <a:pt x="98679" y="5825236"/>
                    <a:pt x="0" y="5726557"/>
                    <a:pt x="0" y="5604764"/>
                  </a:cubicBezTo>
                  <a:close/>
                </a:path>
              </a:pathLst>
            </a:custGeom>
            <a:solidFill>
              <a:srgbClr val="FFFFFF"/>
            </a:solidFill>
            <a:ln w="20955" cap="sq">
              <a:solidFill>
                <a:srgbClr val="D8E0EA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303020" y="5390388"/>
            <a:ext cx="3291840" cy="301752"/>
            <a:chOff x="0" y="0"/>
            <a:chExt cx="4389120" cy="40233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389120" cy="402336"/>
            </a:xfrm>
            <a:custGeom>
              <a:avLst/>
              <a:gdLst/>
              <a:ahLst/>
              <a:cxnLst/>
              <a:rect r="r" b="b" t="t" l="l"/>
              <a:pathLst>
                <a:path h="402336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564" r="0" b="-162564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9525"/>
              <a:ext cx="4389120" cy="3928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65758B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พื้นที่สำหรับใส่คำตอบ</a:t>
              </a:r>
            </a:p>
          </p:txBody>
        </p:sp>
      </p:grpSp>
      <p:sp>
        <p:nvSpPr>
          <p:cNvPr name="AutoShape 26" id="26"/>
          <p:cNvSpPr/>
          <p:nvPr/>
        </p:nvSpPr>
        <p:spPr>
          <a:xfrm rot="2520">
            <a:off x="1311021" y="6071425"/>
            <a:ext cx="15510510" cy="0"/>
          </a:xfrm>
          <a:prstGeom prst="line">
            <a:avLst/>
          </a:prstGeom>
          <a:ln cap="rnd" w="9525">
            <a:solidFill>
              <a:srgbClr val="EEF2F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 rot="2520">
            <a:off x="1311021" y="6647497"/>
            <a:ext cx="15510510" cy="0"/>
          </a:xfrm>
          <a:prstGeom prst="line">
            <a:avLst/>
          </a:prstGeom>
          <a:ln cap="rnd" w="9525">
            <a:solidFill>
              <a:srgbClr val="EEF2F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 rot="2520">
            <a:off x="1311021" y="7223570"/>
            <a:ext cx="15510510" cy="0"/>
          </a:xfrm>
          <a:prstGeom prst="line">
            <a:avLst/>
          </a:prstGeom>
          <a:ln cap="rnd" w="9525">
            <a:solidFill>
              <a:srgbClr val="EEF2F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 rot="2520">
            <a:off x="1311021" y="7799642"/>
            <a:ext cx="15510510" cy="0"/>
          </a:xfrm>
          <a:prstGeom prst="line">
            <a:avLst/>
          </a:prstGeom>
          <a:ln cap="rnd" w="9525">
            <a:solidFill>
              <a:srgbClr val="EEF2F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 rot="2520">
            <a:off x="1311021" y="8375714"/>
            <a:ext cx="15510510" cy="0"/>
          </a:xfrm>
          <a:prstGeom prst="line">
            <a:avLst/>
          </a:prstGeom>
          <a:ln cap="rnd" w="9525">
            <a:solidFill>
              <a:srgbClr val="EEF2F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 rot="2520">
            <a:off x="1311021" y="8951786"/>
            <a:ext cx="15510510" cy="0"/>
          </a:xfrm>
          <a:prstGeom prst="line">
            <a:avLst/>
          </a:prstGeom>
          <a:ln cap="rnd" w="9525">
            <a:solidFill>
              <a:srgbClr val="EEF2F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2" id="32"/>
          <p:cNvSpPr txBox="true"/>
          <p:nvPr/>
        </p:nvSpPr>
        <p:spPr>
          <a:xfrm rot="0">
            <a:off x="1371600" y="6267610"/>
            <a:ext cx="15773400" cy="2047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172033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ด้าน Safety จะ</a:t>
            </a:r>
            <a:r>
              <a:rPr lang="en-US" sz="2700">
                <a:solidFill>
                  <a:srgbClr val="172033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กำหนด ตั้งราคาสูงสุด ด้วยกฎที่ AI แก้ไขไม่ได้ 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172033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เช่น ค่าส่งเพิ่มได้ไม่เกิน 1.5 เท่าของราคาปกติหรือไม่เกินจำนวนเงินที่บริษัทกำหนด หาก AI แนะนำราคาสูงเกินขอบเขต ระบบจะลดลงมาอยู่ที่ราคาสูงสุดทันที และหากข้อมูลผิดปกติจะกลับไปใช้ราคาปกติ ดังนั้น AI ทำหน้าที่แนะนำราคา ส่วนระบบเป็นผู้ควบคุมราคาสุดท้าย 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172033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เพื่อป้องกันราคาที่ไม่สมเหตุสมผลและลดความเสี่ยงด้านการคุ้มครองผู้บริโภค.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165205" y="4471987"/>
            <a:ext cx="5957590" cy="1352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69"/>
              </a:lnSpc>
              <a:spcBef>
                <a:spcPct val="0"/>
              </a:spcBef>
            </a:pPr>
            <a:r>
              <a:rPr lang="en-US" b="true" sz="8974">
                <a:solidFill>
                  <a:srgbClr val="334155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DAHSpyR-UmE</dc:identifier>
  <dcterms:modified xsi:type="dcterms:W3CDTF">2011-08-01T06:04:30Z</dcterms:modified>
  <cp:revision>1</cp:revision>
  <dc:title>software_engineer_exam_questions_7slides.pptx</dc:title>
</cp:coreProperties>
</file>